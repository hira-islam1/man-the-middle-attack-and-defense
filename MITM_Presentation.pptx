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F6FEB"/>
          </a:solidFill>
          <a:ln w="12700">
            <a:solidFill>
              <a:srgbClr val="1F6FEB"/>
            </a:solidFill>
            <a:prstDash val="solid"/>
          </a:ln>
        </p:spPr>
      </p:sp>
      <p:sp>
        <p:nvSpPr>
          <p:cNvPr id="3" name="Text 1"/>
          <p:cNvSpPr/>
          <p:nvPr/>
        </p:nvSpPr>
        <p:spPr>
          <a:xfrm>
            <a:off x="457200" y="640080"/>
            <a:ext cx="8229600" cy="1005840"/>
          </a:xfrm>
          <a:prstGeom prst="rect">
            <a:avLst/>
          </a:prstGeom>
          <a:noFill/>
        </p:spPr>
        <p:txBody>
          <a:bodyPr wrap="square" rtlCol="0" anchor="ctr"/>
          <a:lstStyle/>
          <a:p>
            <a:pPr marL="0" indent="0" algn="ctr">
              <a:buNone/>
            </a:pPr>
            <a:r>
              <a:rPr lang="en-US" sz="5200" b="1" dirty="0">
                <a:solidFill>
                  <a:srgbClr val="FFFFFF"/>
                </a:solidFill>
                <a:latin typeface="Arial Black" panose="020B0A04020102020204" pitchFamily="34" charset="0"/>
                <a:ea typeface="Arial Black" panose="020B0A04020102020204" pitchFamily="34" charset="-122"/>
                <a:cs typeface="Arial Black" panose="020B0A04020102020204" pitchFamily="34" charset="-120"/>
              </a:rPr>
              <a:t>MITM Attack &amp;</a:t>
            </a:r>
            <a:endParaRPr lang="en-US" sz="5200" dirty="0"/>
          </a:p>
        </p:txBody>
      </p:sp>
      <p:sp>
        <p:nvSpPr>
          <p:cNvPr id="4" name="Text 2"/>
          <p:cNvSpPr/>
          <p:nvPr/>
        </p:nvSpPr>
        <p:spPr>
          <a:xfrm>
            <a:off x="457200" y="1600200"/>
            <a:ext cx="8229600" cy="914400"/>
          </a:xfrm>
          <a:prstGeom prst="rect">
            <a:avLst/>
          </a:prstGeom>
          <a:noFill/>
        </p:spPr>
        <p:txBody>
          <a:bodyPr wrap="square" rtlCol="0" anchor="ctr"/>
          <a:lstStyle/>
          <a:p>
            <a:pPr marL="0" indent="0" algn="ctr">
              <a:buNone/>
            </a:pPr>
            <a:r>
              <a:rPr lang="en-US" sz="5200" b="1" dirty="0">
                <a:solidFill>
                  <a:srgbClr val="39D1F5"/>
                </a:solidFill>
                <a:latin typeface="Arial Black" panose="020B0A04020102020204" pitchFamily="34" charset="0"/>
                <a:ea typeface="Arial Black" panose="020B0A04020102020204" pitchFamily="34" charset="-122"/>
                <a:cs typeface="Arial Black" panose="020B0A04020102020204" pitchFamily="34" charset="-120"/>
              </a:rPr>
              <a:t>Defense Simulation</a:t>
            </a:r>
            <a:endParaRPr lang="en-US" sz="5200" dirty="0"/>
          </a:p>
        </p:txBody>
      </p:sp>
      <p:sp>
        <p:nvSpPr>
          <p:cNvPr id="5" name="Shape 3"/>
          <p:cNvSpPr/>
          <p:nvPr/>
        </p:nvSpPr>
        <p:spPr>
          <a:xfrm>
            <a:off x="2011680" y="2651760"/>
            <a:ext cx="5120640" cy="594360"/>
          </a:xfrm>
          <a:prstGeom prst="rect">
            <a:avLst/>
          </a:prstGeom>
          <a:solidFill>
            <a:srgbClr val="1F6FEB">
              <a:alpha val="80000"/>
            </a:srgbClr>
          </a:solidFill>
          <a:ln w="12700">
            <a:solidFill>
              <a:srgbClr val="1F6FEB"/>
            </a:solidFill>
            <a:prstDash val="solid"/>
          </a:ln>
        </p:spPr>
        <p:txBody>
          <a:bodyPr/>
          <a:p>
            <a:endParaRPr lang="en-US"/>
          </a:p>
        </p:txBody>
      </p:sp>
      <p:sp>
        <p:nvSpPr>
          <p:cNvPr id="6" name="Text 4"/>
          <p:cNvSpPr/>
          <p:nvPr/>
        </p:nvSpPr>
        <p:spPr>
          <a:xfrm>
            <a:off x="2011680" y="2651760"/>
            <a:ext cx="5120640" cy="594360"/>
          </a:xfrm>
          <a:prstGeom prst="rect">
            <a:avLst/>
          </a:prstGeom>
          <a:noFill/>
        </p:spPr>
        <p:txBody>
          <a:bodyPr wrap="square" rtlCol="0" anchor="ctr"/>
          <a:lstStyle/>
          <a:p>
            <a:pPr marL="0" indent="0" algn="ctr">
              <a:buNone/>
            </a:pPr>
            <a:r>
              <a:rPr lang="en-US" sz="1200" dirty="0">
                <a:solidFill>
                  <a:srgbClr val="FFFFFF"/>
                </a:solidFill>
              </a:rPr>
              <a:t>Man-in-the-Middle Attack  |  Kali Linux + Ubuntu  </a:t>
            </a:r>
            <a:endParaRPr lang="en-US" sz="1200" dirty="0"/>
          </a:p>
        </p:txBody>
      </p:sp>
      <p:sp>
        <p:nvSpPr>
          <p:cNvPr id="11" name="Text 7"/>
          <p:cNvSpPr/>
          <p:nvPr/>
        </p:nvSpPr>
        <p:spPr>
          <a:xfrm>
            <a:off x="457200" y="4800600"/>
            <a:ext cx="8229600" cy="274320"/>
          </a:xfrm>
          <a:prstGeom prst="rect">
            <a:avLst/>
          </a:prstGeom>
          <a:noFill/>
        </p:spPr>
        <p:txBody>
          <a:bodyPr wrap="square" rtlCol="0" anchor="ctr"/>
          <a:lstStyle/>
          <a:p>
            <a:pPr marL="0" indent="0" algn="ctr">
              <a:buNone/>
            </a:pPr>
            <a:r>
              <a:rPr lang="en-US" sz="1000" dirty="0">
                <a:solidFill>
                  <a:srgbClr val="8B949E"/>
                </a:solidFill>
              </a:rPr>
              <a:t>Submitted by: Hira Islam  |  Information Security  |  April 2026</a:t>
            </a:r>
            <a:endParaRPr lang="en-US" sz="1000" dirty="0"/>
          </a:p>
        </p:txBody>
      </p:sp>
      <p:sp>
        <p:nvSpPr>
          <p:cNvPr id="12" name="Shape 8"/>
          <p:cNvSpPr/>
          <p:nvPr/>
        </p:nvSpPr>
        <p:spPr>
          <a:xfrm>
            <a:off x="0" y="5056632"/>
            <a:ext cx="9144000" cy="73152"/>
          </a:xfrm>
          <a:prstGeom prst="rect">
            <a:avLst/>
          </a:prstGeom>
          <a:solidFill>
            <a:srgbClr val="1F6FEB"/>
          </a:solidFill>
          <a:ln w="12700">
            <a:solidFill>
              <a:srgbClr val="1F6FE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F6FEB"/>
          </a:solidFill>
          <a:ln w="12700">
            <a:solidFill>
              <a:srgbClr val="1F6FEB"/>
            </a:solidFill>
            <a:prstDash val="solid"/>
          </a:ln>
        </p:spPr>
      </p:sp>
      <p:sp>
        <p:nvSpPr>
          <p:cNvPr id="3" name="Text 1"/>
          <p:cNvSpPr/>
          <p:nvPr/>
        </p:nvSpPr>
        <p:spPr>
          <a:xfrm>
            <a:off x="365760" y="137160"/>
            <a:ext cx="8229600" cy="594360"/>
          </a:xfrm>
          <a:prstGeom prst="rect">
            <a:avLst/>
          </a:prstGeom>
          <a:noFill/>
        </p:spPr>
        <p:txBody>
          <a:bodyPr wrap="square" rtlCol="0" anchor="ctr"/>
          <a:lstStyle/>
          <a:p>
            <a:pPr marL="0" indent="0">
              <a:buNone/>
            </a:pPr>
            <a:r>
              <a:rPr lang="en-US" sz="3000" b="1" dirty="0">
                <a:solidFill>
                  <a:srgbClr val="FFFFFF"/>
                </a:solidFill>
              </a:rPr>
              <a:t>What is a MITM Attack?</a:t>
            </a:r>
            <a:endParaRPr lang="en-US" sz="3000" dirty="0"/>
          </a:p>
        </p:txBody>
      </p:sp>
      <p:sp>
        <p:nvSpPr>
          <p:cNvPr id="4" name="Shape 2"/>
          <p:cNvSpPr/>
          <p:nvPr/>
        </p:nvSpPr>
        <p:spPr>
          <a:xfrm>
            <a:off x="274320" y="868680"/>
            <a:ext cx="4114800" cy="3749040"/>
          </a:xfrm>
          <a:prstGeom prst="rect">
            <a:avLst/>
          </a:prstGeom>
          <a:solidFill>
            <a:srgbClr val="0D2137"/>
          </a:solidFill>
          <a:ln w="12700">
            <a:solidFill>
              <a:srgbClr val="1F6FEB"/>
            </a:solidFill>
            <a:prstDash val="solid"/>
          </a:ln>
          <a:effectLst>
            <a:outerShdw blurRad="101600" dist="38100" dir="8100000" algn="bl" rotWithShape="0">
              <a:srgbClr val="000000">
                <a:alpha val="30000"/>
              </a:srgbClr>
            </a:outerShdw>
          </a:effectLst>
        </p:spPr>
      </p:sp>
      <p:sp>
        <p:nvSpPr>
          <p:cNvPr id="5" name="Text 3"/>
          <p:cNvSpPr/>
          <p:nvPr/>
        </p:nvSpPr>
        <p:spPr>
          <a:xfrm>
            <a:off x="457200" y="987552"/>
            <a:ext cx="3749040" cy="347472"/>
          </a:xfrm>
          <a:prstGeom prst="rect">
            <a:avLst/>
          </a:prstGeom>
          <a:noFill/>
        </p:spPr>
        <p:txBody>
          <a:bodyPr wrap="square" rtlCol="0" anchor="ctr"/>
          <a:lstStyle/>
          <a:p>
            <a:pPr marL="0" indent="0">
              <a:buNone/>
            </a:pPr>
            <a:r>
              <a:rPr lang="en-US" sz="1500" b="1" dirty="0">
                <a:solidFill>
                  <a:srgbClr val="39D1F5"/>
                </a:solidFill>
              </a:rPr>
              <a:t>Definition</a:t>
            </a:r>
            <a:endParaRPr lang="en-US" sz="1500" dirty="0"/>
          </a:p>
        </p:txBody>
      </p:sp>
      <p:sp>
        <p:nvSpPr>
          <p:cNvPr id="6" name="Text 4"/>
          <p:cNvSpPr/>
          <p:nvPr/>
        </p:nvSpPr>
        <p:spPr>
          <a:xfrm>
            <a:off x="457200" y="1389888"/>
            <a:ext cx="3749040" cy="2011680"/>
          </a:xfrm>
          <a:prstGeom prst="rect">
            <a:avLst/>
          </a:prstGeom>
          <a:noFill/>
        </p:spPr>
        <p:txBody>
          <a:bodyPr wrap="square" rtlCol="0" anchor="ctr"/>
          <a:lstStyle/>
          <a:p>
            <a:pPr marL="0" indent="0">
              <a:buNone/>
            </a:pPr>
            <a:r>
              <a:rPr lang="en-US" sz="1300" dirty="0">
                <a:solidFill>
                  <a:srgbClr val="E6EDF3"/>
                </a:solidFill>
              </a:rPr>
              <a:t>A MITM attack occurs when an attacker secretly intercepts communication between two parties.</a:t>
            </a:r>
            <a:endParaRPr lang="en-US" sz="1300" dirty="0"/>
          </a:p>
          <a:p>
            <a:pPr marL="0" indent="0">
              <a:buNone/>
            </a:pPr>
            <a:r>
              <a:rPr lang="en-US" sz="1300" dirty="0">
                <a:solidFill>
                  <a:srgbClr val="E6EDF3"/>
                </a:solidFill>
              </a:rPr>
              <a:t> </a:t>
            </a:r>
            <a:endParaRPr lang="en-US" sz="1300" dirty="0"/>
          </a:p>
          <a:p>
            <a:pPr marL="0" indent="0">
              <a:buNone/>
            </a:pPr>
            <a:r>
              <a:rPr lang="en-US" sz="1300" dirty="0">
                <a:solidFill>
                  <a:srgbClr val="E6EDF3"/>
                </a:solidFill>
              </a:rPr>
              <a:t>The attacker positions himself BETWEEN the victim and the gateway, capturing all traffic.</a:t>
            </a:r>
            <a:endParaRPr lang="en-US" sz="1300" dirty="0"/>
          </a:p>
          <a:p>
            <a:pPr marL="0" indent="0">
              <a:buNone/>
            </a:pPr>
            <a:r>
              <a:rPr lang="en-US" sz="1300" dirty="0">
                <a:solidFill>
                  <a:srgbClr val="E6EDF3"/>
                </a:solidFill>
              </a:rPr>
              <a:t> </a:t>
            </a:r>
            <a:endParaRPr lang="en-US" sz="1300" dirty="0"/>
          </a:p>
          <a:p>
            <a:pPr marL="0" indent="0">
              <a:buNone/>
            </a:pPr>
            <a:r>
              <a:rPr lang="en-US" sz="1300" dirty="0">
                <a:solidFill>
                  <a:srgbClr val="E6EDF3"/>
                </a:solidFill>
              </a:rPr>
              <a:t>Used to steal credentials, banking info, and sensitive data.</a:t>
            </a:r>
            <a:endParaRPr lang="en-US" sz="1300" dirty="0"/>
          </a:p>
        </p:txBody>
      </p:sp>
      <p:sp>
        <p:nvSpPr>
          <p:cNvPr id="7" name="Text 5"/>
          <p:cNvSpPr/>
          <p:nvPr/>
        </p:nvSpPr>
        <p:spPr>
          <a:xfrm>
            <a:off x="457200" y="3429000"/>
            <a:ext cx="3749040" cy="274320"/>
          </a:xfrm>
          <a:prstGeom prst="rect">
            <a:avLst/>
          </a:prstGeom>
          <a:noFill/>
        </p:spPr>
        <p:txBody>
          <a:bodyPr wrap="square" rtlCol="0" anchor="ctr"/>
          <a:lstStyle/>
          <a:p>
            <a:pPr marL="0" indent="0">
              <a:buNone/>
            </a:pPr>
            <a:r>
              <a:rPr lang="en-US" sz="1200" b="1" dirty="0">
                <a:solidFill>
                  <a:srgbClr val="39D1F5"/>
                </a:solidFill>
              </a:rPr>
              <a:t>Normal vs MITM:</a:t>
            </a:r>
            <a:endParaRPr lang="en-US" sz="1200" dirty="0"/>
          </a:p>
        </p:txBody>
      </p:sp>
      <p:sp>
        <p:nvSpPr>
          <p:cNvPr id="8" name="Text 6"/>
          <p:cNvSpPr/>
          <p:nvPr/>
        </p:nvSpPr>
        <p:spPr>
          <a:xfrm>
            <a:off x="457200" y="3730752"/>
            <a:ext cx="3749040" cy="256032"/>
          </a:xfrm>
          <a:prstGeom prst="rect">
            <a:avLst/>
          </a:prstGeom>
          <a:noFill/>
        </p:spPr>
        <p:txBody>
          <a:bodyPr wrap="square" rtlCol="0" anchor="ctr"/>
          <a:lstStyle/>
          <a:p>
            <a:pPr marL="0" indent="0">
              <a:buNone/>
            </a:pPr>
            <a:r>
              <a:rPr lang="en-US" sz="1100" dirty="0">
                <a:solidFill>
                  <a:srgbClr val="3FB950"/>
                </a:solidFill>
                <a:latin typeface="Consolas" panose="020B0609020204030204" pitchFamily="34" charset="0"/>
                <a:ea typeface="Consolas" panose="020B0609020204030204" pitchFamily="34" charset="-122"/>
                <a:cs typeface="Consolas" panose="020B0609020204030204" pitchFamily="34" charset="-120"/>
              </a:rPr>
              <a:t>Normal:  Alice ←————————→ Bank</a:t>
            </a:r>
            <a:endParaRPr lang="en-US" sz="1100" dirty="0"/>
          </a:p>
        </p:txBody>
      </p:sp>
      <p:sp>
        <p:nvSpPr>
          <p:cNvPr id="9" name="Text 7"/>
          <p:cNvSpPr/>
          <p:nvPr/>
        </p:nvSpPr>
        <p:spPr>
          <a:xfrm>
            <a:off x="457200" y="4005072"/>
            <a:ext cx="3749040" cy="256032"/>
          </a:xfrm>
          <a:prstGeom prst="rect">
            <a:avLst/>
          </a:prstGeom>
          <a:noFill/>
        </p:spPr>
        <p:txBody>
          <a:bodyPr wrap="square" rtlCol="0" anchor="ctr"/>
          <a:lstStyle/>
          <a:p>
            <a:pPr marL="0" indent="0">
              <a:buNone/>
            </a:pPr>
            <a:r>
              <a:rPr lang="en-US" sz="1100" dirty="0">
                <a:solidFill>
                  <a:srgbClr val="F85149"/>
                </a:solidFill>
                <a:latin typeface="Consolas" panose="020B0609020204030204" pitchFamily="34" charset="0"/>
                <a:ea typeface="Consolas" panose="020B0609020204030204" pitchFamily="34" charset="-122"/>
                <a:cs typeface="Consolas" panose="020B0609020204030204" pitchFamily="34" charset="-120"/>
              </a:rPr>
              <a:t>MITM:    Alice ←→ Attacker ←→ Bank</a:t>
            </a:r>
            <a:endParaRPr lang="en-US" sz="1100" dirty="0"/>
          </a:p>
        </p:txBody>
      </p:sp>
      <p:sp>
        <p:nvSpPr>
          <p:cNvPr id="10" name="Text 8"/>
          <p:cNvSpPr/>
          <p:nvPr/>
        </p:nvSpPr>
        <p:spPr>
          <a:xfrm>
            <a:off x="457200" y="4297680"/>
            <a:ext cx="3749040" cy="256032"/>
          </a:xfrm>
          <a:prstGeom prst="rect">
            <a:avLst/>
          </a:prstGeom>
          <a:noFill/>
        </p:spPr>
        <p:txBody>
          <a:bodyPr wrap="square" rtlCol="0" anchor="ctr"/>
          <a:lstStyle/>
          <a:p>
            <a:pPr marL="0" indent="0">
              <a:buNone/>
            </a:pPr>
            <a:r>
              <a:rPr lang="en-US" sz="1100" b="1" dirty="0">
                <a:solidFill>
                  <a:srgbClr val="F85149"/>
                </a:solidFill>
              </a:rPr>
              <a:t>Victim has NO IDEA!</a:t>
            </a:r>
            <a:endParaRPr lang="en-US" sz="1100" dirty="0"/>
          </a:p>
        </p:txBody>
      </p:sp>
      <p:sp>
        <p:nvSpPr>
          <p:cNvPr id="11" name="Shape 9"/>
          <p:cNvSpPr/>
          <p:nvPr/>
        </p:nvSpPr>
        <p:spPr>
          <a:xfrm>
            <a:off x="4754880" y="868680"/>
            <a:ext cx="4114800" cy="3749040"/>
          </a:xfrm>
          <a:prstGeom prst="rect">
            <a:avLst/>
          </a:prstGeom>
          <a:solidFill>
            <a:srgbClr val="0D2137"/>
          </a:solidFill>
          <a:ln w="12700">
            <a:solidFill>
              <a:srgbClr val="F85149"/>
            </a:solidFill>
            <a:prstDash val="solid"/>
          </a:ln>
          <a:effectLst>
            <a:outerShdw blurRad="101600" dist="38100" dir="8100000" algn="bl" rotWithShape="0">
              <a:srgbClr val="000000">
                <a:alpha val="30000"/>
              </a:srgbClr>
            </a:outerShdw>
          </a:effectLst>
        </p:spPr>
      </p:sp>
      <p:sp>
        <p:nvSpPr>
          <p:cNvPr id="12" name="Text 10"/>
          <p:cNvSpPr/>
          <p:nvPr/>
        </p:nvSpPr>
        <p:spPr>
          <a:xfrm>
            <a:off x="4937760" y="987552"/>
            <a:ext cx="3749040" cy="347472"/>
          </a:xfrm>
          <a:prstGeom prst="rect">
            <a:avLst/>
          </a:prstGeom>
          <a:noFill/>
        </p:spPr>
        <p:txBody>
          <a:bodyPr wrap="square" rtlCol="0" anchor="ctr"/>
          <a:lstStyle/>
          <a:p>
            <a:pPr marL="0" indent="0">
              <a:buNone/>
            </a:pPr>
            <a:r>
              <a:rPr lang="en-US" sz="1500" b="1" dirty="0">
                <a:solidFill>
                  <a:srgbClr val="F85149"/>
                </a:solidFill>
              </a:rPr>
              <a:t>Attack Flow</a:t>
            </a:r>
            <a:endParaRPr lang="en-US" sz="1500" dirty="0"/>
          </a:p>
        </p:txBody>
      </p:sp>
      <p:sp>
        <p:nvSpPr>
          <p:cNvPr id="13" name="Shape 11"/>
          <p:cNvSpPr/>
          <p:nvPr/>
        </p:nvSpPr>
        <p:spPr>
          <a:xfrm>
            <a:off x="4937760" y="1417320"/>
            <a:ext cx="384048" cy="347472"/>
          </a:xfrm>
          <a:prstGeom prst="rect">
            <a:avLst/>
          </a:prstGeom>
          <a:solidFill>
            <a:srgbClr val="F85149"/>
          </a:solidFill>
          <a:ln w="12700">
            <a:solidFill>
              <a:srgbClr val="F85149"/>
            </a:solidFill>
            <a:prstDash val="solid"/>
          </a:ln>
        </p:spPr>
      </p:sp>
      <p:sp>
        <p:nvSpPr>
          <p:cNvPr id="14" name="Text 12"/>
          <p:cNvSpPr/>
          <p:nvPr/>
        </p:nvSpPr>
        <p:spPr>
          <a:xfrm>
            <a:off x="4937760" y="1417320"/>
            <a:ext cx="384048" cy="347472"/>
          </a:xfrm>
          <a:prstGeom prst="rect">
            <a:avLst/>
          </a:prstGeom>
          <a:noFill/>
        </p:spPr>
        <p:txBody>
          <a:bodyPr wrap="square" rtlCol="0" anchor="ctr"/>
          <a:lstStyle/>
          <a:p>
            <a:pPr marL="0" indent="0" algn="ctr">
              <a:buNone/>
            </a:pPr>
            <a:r>
              <a:rPr lang="en-US" sz="1100" b="1" dirty="0">
                <a:solidFill>
                  <a:srgbClr val="FFFFFF"/>
                </a:solidFill>
              </a:rPr>
              <a:t>01</a:t>
            </a:r>
            <a:endParaRPr lang="en-US" sz="1100" dirty="0"/>
          </a:p>
        </p:txBody>
      </p:sp>
      <p:sp>
        <p:nvSpPr>
          <p:cNvPr id="15" name="Text 13"/>
          <p:cNvSpPr/>
          <p:nvPr/>
        </p:nvSpPr>
        <p:spPr>
          <a:xfrm>
            <a:off x="5394960" y="1435608"/>
            <a:ext cx="3337560" cy="329184"/>
          </a:xfrm>
          <a:prstGeom prst="rect">
            <a:avLst/>
          </a:prstGeom>
          <a:noFill/>
        </p:spPr>
        <p:txBody>
          <a:bodyPr wrap="square" rtlCol="0" anchor="ctr"/>
          <a:lstStyle/>
          <a:p>
            <a:pPr marL="0" indent="0">
              <a:buNone/>
            </a:pPr>
            <a:r>
              <a:rPr lang="en-US" sz="1200" dirty="0">
                <a:solidFill>
                  <a:srgbClr val="E6EDF3"/>
                </a:solidFill>
              </a:rPr>
              <a:t>Attacker joins same network</a:t>
            </a:r>
            <a:endParaRPr lang="en-US" sz="1200" dirty="0"/>
          </a:p>
        </p:txBody>
      </p:sp>
      <p:sp>
        <p:nvSpPr>
          <p:cNvPr id="16" name="Shape 14"/>
          <p:cNvSpPr/>
          <p:nvPr/>
        </p:nvSpPr>
        <p:spPr>
          <a:xfrm>
            <a:off x="4937760" y="1984248"/>
            <a:ext cx="384048" cy="347472"/>
          </a:xfrm>
          <a:prstGeom prst="rect">
            <a:avLst/>
          </a:prstGeom>
          <a:solidFill>
            <a:srgbClr val="F85149"/>
          </a:solidFill>
          <a:ln w="12700">
            <a:solidFill>
              <a:srgbClr val="F85149"/>
            </a:solidFill>
            <a:prstDash val="solid"/>
          </a:ln>
        </p:spPr>
      </p:sp>
      <p:sp>
        <p:nvSpPr>
          <p:cNvPr id="17" name="Text 15"/>
          <p:cNvSpPr/>
          <p:nvPr/>
        </p:nvSpPr>
        <p:spPr>
          <a:xfrm>
            <a:off x="4937760" y="1984248"/>
            <a:ext cx="384048" cy="347472"/>
          </a:xfrm>
          <a:prstGeom prst="rect">
            <a:avLst/>
          </a:prstGeom>
          <a:noFill/>
        </p:spPr>
        <p:txBody>
          <a:bodyPr wrap="square" rtlCol="0" anchor="ctr"/>
          <a:lstStyle/>
          <a:p>
            <a:pPr marL="0" indent="0" algn="ctr">
              <a:buNone/>
            </a:pPr>
            <a:r>
              <a:rPr lang="en-US" sz="1100" b="1" dirty="0">
                <a:solidFill>
                  <a:srgbClr val="FFFFFF"/>
                </a:solidFill>
              </a:rPr>
              <a:t>02</a:t>
            </a:r>
            <a:endParaRPr lang="en-US" sz="1100" dirty="0"/>
          </a:p>
        </p:txBody>
      </p:sp>
      <p:sp>
        <p:nvSpPr>
          <p:cNvPr id="18" name="Text 16"/>
          <p:cNvSpPr/>
          <p:nvPr/>
        </p:nvSpPr>
        <p:spPr>
          <a:xfrm>
            <a:off x="5394960" y="2002536"/>
            <a:ext cx="3337560" cy="329184"/>
          </a:xfrm>
          <a:prstGeom prst="rect">
            <a:avLst/>
          </a:prstGeom>
          <a:noFill/>
        </p:spPr>
        <p:txBody>
          <a:bodyPr wrap="square" rtlCol="0" anchor="ctr"/>
          <a:lstStyle/>
          <a:p>
            <a:pPr marL="0" indent="0">
              <a:buNone/>
            </a:pPr>
            <a:r>
              <a:rPr lang="en-US" sz="1200" dirty="0">
                <a:solidFill>
                  <a:srgbClr val="E6EDF3"/>
                </a:solidFill>
              </a:rPr>
              <a:t>Scans for victim IP/MAC</a:t>
            </a:r>
            <a:endParaRPr lang="en-US" sz="1200" dirty="0"/>
          </a:p>
        </p:txBody>
      </p:sp>
      <p:sp>
        <p:nvSpPr>
          <p:cNvPr id="19" name="Shape 17"/>
          <p:cNvSpPr/>
          <p:nvPr/>
        </p:nvSpPr>
        <p:spPr>
          <a:xfrm>
            <a:off x="4937760" y="2551176"/>
            <a:ext cx="384048" cy="347472"/>
          </a:xfrm>
          <a:prstGeom prst="rect">
            <a:avLst/>
          </a:prstGeom>
          <a:solidFill>
            <a:srgbClr val="F85149"/>
          </a:solidFill>
          <a:ln w="12700">
            <a:solidFill>
              <a:srgbClr val="F85149"/>
            </a:solidFill>
            <a:prstDash val="solid"/>
          </a:ln>
        </p:spPr>
      </p:sp>
      <p:sp>
        <p:nvSpPr>
          <p:cNvPr id="20" name="Text 18"/>
          <p:cNvSpPr/>
          <p:nvPr/>
        </p:nvSpPr>
        <p:spPr>
          <a:xfrm>
            <a:off x="4937760" y="2551176"/>
            <a:ext cx="384048" cy="347472"/>
          </a:xfrm>
          <a:prstGeom prst="rect">
            <a:avLst/>
          </a:prstGeom>
          <a:noFill/>
        </p:spPr>
        <p:txBody>
          <a:bodyPr wrap="square" rtlCol="0" anchor="ctr"/>
          <a:lstStyle/>
          <a:p>
            <a:pPr marL="0" indent="0" algn="ctr">
              <a:buNone/>
            </a:pPr>
            <a:r>
              <a:rPr lang="en-US" sz="1100" b="1" dirty="0">
                <a:solidFill>
                  <a:srgbClr val="FFFFFF"/>
                </a:solidFill>
              </a:rPr>
              <a:t>03</a:t>
            </a:r>
            <a:endParaRPr lang="en-US" sz="1100" dirty="0"/>
          </a:p>
        </p:txBody>
      </p:sp>
      <p:sp>
        <p:nvSpPr>
          <p:cNvPr id="21" name="Text 19"/>
          <p:cNvSpPr/>
          <p:nvPr/>
        </p:nvSpPr>
        <p:spPr>
          <a:xfrm>
            <a:off x="5394960" y="2569464"/>
            <a:ext cx="3337560" cy="329184"/>
          </a:xfrm>
          <a:prstGeom prst="rect">
            <a:avLst/>
          </a:prstGeom>
          <a:noFill/>
        </p:spPr>
        <p:txBody>
          <a:bodyPr wrap="square" rtlCol="0" anchor="ctr"/>
          <a:lstStyle/>
          <a:p>
            <a:pPr marL="0" indent="0">
              <a:buNone/>
            </a:pPr>
            <a:r>
              <a:rPr lang="en-US" sz="1200" dirty="0">
                <a:solidFill>
                  <a:srgbClr val="E6EDF3"/>
                </a:solidFill>
              </a:rPr>
              <a:t>Sends fake ARP replies</a:t>
            </a:r>
            <a:endParaRPr lang="en-US" sz="1200" dirty="0"/>
          </a:p>
        </p:txBody>
      </p:sp>
      <p:sp>
        <p:nvSpPr>
          <p:cNvPr id="22" name="Shape 20"/>
          <p:cNvSpPr/>
          <p:nvPr/>
        </p:nvSpPr>
        <p:spPr>
          <a:xfrm>
            <a:off x="4937760" y="3118104"/>
            <a:ext cx="384048" cy="347472"/>
          </a:xfrm>
          <a:prstGeom prst="rect">
            <a:avLst/>
          </a:prstGeom>
          <a:solidFill>
            <a:srgbClr val="F85149"/>
          </a:solidFill>
          <a:ln w="12700">
            <a:solidFill>
              <a:srgbClr val="F85149"/>
            </a:solidFill>
            <a:prstDash val="solid"/>
          </a:ln>
        </p:spPr>
      </p:sp>
      <p:sp>
        <p:nvSpPr>
          <p:cNvPr id="23" name="Text 21"/>
          <p:cNvSpPr/>
          <p:nvPr/>
        </p:nvSpPr>
        <p:spPr>
          <a:xfrm>
            <a:off x="4937760" y="3118104"/>
            <a:ext cx="384048" cy="347472"/>
          </a:xfrm>
          <a:prstGeom prst="rect">
            <a:avLst/>
          </a:prstGeom>
          <a:noFill/>
        </p:spPr>
        <p:txBody>
          <a:bodyPr wrap="square" rtlCol="0" anchor="ctr"/>
          <a:lstStyle/>
          <a:p>
            <a:pPr marL="0" indent="0" algn="ctr">
              <a:buNone/>
            </a:pPr>
            <a:r>
              <a:rPr lang="en-US" sz="1100" b="1" dirty="0">
                <a:solidFill>
                  <a:srgbClr val="FFFFFF"/>
                </a:solidFill>
              </a:rPr>
              <a:t>04</a:t>
            </a:r>
            <a:endParaRPr lang="en-US" sz="1100" dirty="0"/>
          </a:p>
        </p:txBody>
      </p:sp>
      <p:sp>
        <p:nvSpPr>
          <p:cNvPr id="24" name="Text 22"/>
          <p:cNvSpPr/>
          <p:nvPr/>
        </p:nvSpPr>
        <p:spPr>
          <a:xfrm>
            <a:off x="5394960" y="3136392"/>
            <a:ext cx="3337560" cy="329184"/>
          </a:xfrm>
          <a:prstGeom prst="rect">
            <a:avLst/>
          </a:prstGeom>
          <a:noFill/>
        </p:spPr>
        <p:txBody>
          <a:bodyPr wrap="square" rtlCol="0" anchor="ctr"/>
          <a:lstStyle/>
          <a:p>
            <a:pPr marL="0" indent="0">
              <a:buNone/>
            </a:pPr>
            <a:r>
              <a:rPr lang="en-US" sz="1200" dirty="0">
                <a:solidFill>
                  <a:srgbClr val="E6EDF3"/>
                </a:solidFill>
              </a:rPr>
              <a:t>All traffic flows through Kali</a:t>
            </a:r>
            <a:endParaRPr lang="en-US" sz="1200" dirty="0"/>
          </a:p>
        </p:txBody>
      </p:sp>
      <p:sp>
        <p:nvSpPr>
          <p:cNvPr id="25" name="Shape 23"/>
          <p:cNvSpPr/>
          <p:nvPr/>
        </p:nvSpPr>
        <p:spPr>
          <a:xfrm>
            <a:off x="4937760" y="3685032"/>
            <a:ext cx="384048" cy="347472"/>
          </a:xfrm>
          <a:prstGeom prst="rect">
            <a:avLst/>
          </a:prstGeom>
          <a:solidFill>
            <a:srgbClr val="F85149"/>
          </a:solidFill>
          <a:ln w="12700">
            <a:solidFill>
              <a:srgbClr val="F85149"/>
            </a:solidFill>
            <a:prstDash val="solid"/>
          </a:ln>
        </p:spPr>
      </p:sp>
      <p:sp>
        <p:nvSpPr>
          <p:cNvPr id="26" name="Text 24"/>
          <p:cNvSpPr/>
          <p:nvPr/>
        </p:nvSpPr>
        <p:spPr>
          <a:xfrm>
            <a:off x="4937760" y="3685032"/>
            <a:ext cx="384048" cy="347472"/>
          </a:xfrm>
          <a:prstGeom prst="rect">
            <a:avLst/>
          </a:prstGeom>
          <a:noFill/>
        </p:spPr>
        <p:txBody>
          <a:bodyPr wrap="square" rtlCol="0" anchor="ctr"/>
          <a:lstStyle/>
          <a:p>
            <a:pPr marL="0" indent="0" algn="ctr">
              <a:buNone/>
            </a:pPr>
            <a:r>
              <a:rPr lang="en-US" sz="1100" b="1" dirty="0">
                <a:solidFill>
                  <a:srgbClr val="FFFFFF"/>
                </a:solidFill>
              </a:rPr>
              <a:t>05</a:t>
            </a:r>
            <a:endParaRPr lang="en-US" sz="1100" dirty="0"/>
          </a:p>
        </p:txBody>
      </p:sp>
      <p:sp>
        <p:nvSpPr>
          <p:cNvPr id="27" name="Text 25"/>
          <p:cNvSpPr/>
          <p:nvPr/>
        </p:nvSpPr>
        <p:spPr>
          <a:xfrm>
            <a:off x="5394960" y="3703320"/>
            <a:ext cx="3337560" cy="329184"/>
          </a:xfrm>
          <a:prstGeom prst="rect">
            <a:avLst/>
          </a:prstGeom>
          <a:noFill/>
        </p:spPr>
        <p:txBody>
          <a:bodyPr wrap="square" rtlCol="0" anchor="ctr"/>
          <a:lstStyle/>
          <a:p>
            <a:pPr marL="0" indent="0">
              <a:buNone/>
            </a:pPr>
            <a:r>
              <a:rPr lang="en-US" sz="1200" dirty="0">
                <a:solidFill>
                  <a:srgbClr val="E6EDF3"/>
                </a:solidFill>
              </a:rPr>
              <a:t>Credentials captured!</a:t>
            </a:r>
            <a:endParaRPr lang="en-US" sz="1200" dirty="0"/>
          </a:p>
        </p:txBody>
      </p:sp>
      <p:sp>
        <p:nvSpPr>
          <p:cNvPr id="28" name="Shape 26"/>
          <p:cNvSpPr/>
          <p:nvPr/>
        </p:nvSpPr>
        <p:spPr>
          <a:xfrm>
            <a:off x="0" y="5056632"/>
            <a:ext cx="9144000" cy="73152"/>
          </a:xfrm>
          <a:prstGeom prst="rect">
            <a:avLst/>
          </a:prstGeom>
          <a:solidFill>
            <a:srgbClr val="1F6FEB"/>
          </a:solidFill>
          <a:ln w="12700">
            <a:solidFill>
              <a:srgbClr val="1F6FEB"/>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F6FEB"/>
          </a:solidFill>
          <a:ln w="12700">
            <a:solidFill>
              <a:srgbClr val="1F6FEB"/>
            </a:solidFill>
            <a:prstDash val="solid"/>
          </a:ln>
        </p:spPr>
      </p:sp>
      <p:sp>
        <p:nvSpPr>
          <p:cNvPr id="3" name="Text 1"/>
          <p:cNvSpPr/>
          <p:nvPr/>
        </p:nvSpPr>
        <p:spPr>
          <a:xfrm>
            <a:off x="365760" y="137160"/>
            <a:ext cx="8229600" cy="594360"/>
          </a:xfrm>
          <a:prstGeom prst="rect">
            <a:avLst/>
          </a:prstGeom>
          <a:noFill/>
        </p:spPr>
        <p:txBody>
          <a:bodyPr wrap="square" rtlCol="0" anchor="ctr"/>
          <a:lstStyle/>
          <a:p>
            <a:pPr marL="0" indent="0">
              <a:buNone/>
            </a:pPr>
            <a:r>
              <a:rPr lang="en-US" sz="3000" b="1" dirty="0">
                <a:solidFill>
                  <a:srgbClr val="FFFFFF"/>
                </a:solidFill>
              </a:rPr>
              <a:t>Lab Setup &amp; Network Topology</a:t>
            </a:r>
            <a:endParaRPr lang="en-US" sz="3000" dirty="0"/>
          </a:p>
        </p:txBody>
      </p:sp>
      <p:sp>
        <p:nvSpPr>
          <p:cNvPr id="4" name="Shape 2"/>
          <p:cNvSpPr/>
          <p:nvPr/>
        </p:nvSpPr>
        <p:spPr>
          <a:xfrm>
            <a:off x="274320" y="921385"/>
            <a:ext cx="2103120" cy="1480820"/>
          </a:xfrm>
          <a:prstGeom prst="rect">
            <a:avLst/>
          </a:prstGeom>
          <a:solidFill>
            <a:srgbClr val="0D2137"/>
          </a:solidFill>
          <a:ln w="25400">
            <a:solidFill>
              <a:srgbClr val="F85149"/>
            </a:solidFill>
            <a:prstDash val="solid"/>
          </a:ln>
          <a:effectLst>
            <a:outerShdw blurRad="101600" dist="38100" dir="8100000" algn="bl" rotWithShape="0">
              <a:srgbClr val="000000">
                <a:alpha val="30000"/>
              </a:srgbClr>
            </a:outerShdw>
          </a:effectLst>
        </p:spPr>
      </p:sp>
      <p:sp>
        <p:nvSpPr>
          <p:cNvPr id="5" name="Shape 3"/>
          <p:cNvSpPr/>
          <p:nvPr/>
        </p:nvSpPr>
        <p:spPr>
          <a:xfrm>
            <a:off x="274320" y="914400"/>
            <a:ext cx="2103120" cy="365760"/>
          </a:xfrm>
          <a:prstGeom prst="rect">
            <a:avLst/>
          </a:prstGeom>
          <a:solidFill>
            <a:srgbClr val="F85149"/>
          </a:solidFill>
          <a:ln w="12700">
            <a:solidFill>
              <a:srgbClr val="F85149"/>
            </a:solidFill>
            <a:prstDash val="solid"/>
          </a:ln>
        </p:spPr>
      </p:sp>
      <p:sp>
        <p:nvSpPr>
          <p:cNvPr id="6" name="Text 4"/>
          <p:cNvSpPr/>
          <p:nvPr/>
        </p:nvSpPr>
        <p:spPr>
          <a:xfrm>
            <a:off x="274320" y="914400"/>
            <a:ext cx="2103120" cy="365760"/>
          </a:xfrm>
          <a:prstGeom prst="rect">
            <a:avLst/>
          </a:prstGeom>
          <a:noFill/>
        </p:spPr>
        <p:txBody>
          <a:bodyPr wrap="square" rtlCol="0" anchor="ctr"/>
          <a:lstStyle/>
          <a:p>
            <a:pPr marL="0" indent="0" algn="ctr">
              <a:buNone/>
            </a:pPr>
            <a:r>
              <a:rPr lang="en-US" sz="1200" b="1" dirty="0">
                <a:solidFill>
                  <a:srgbClr val="0D1117"/>
                </a:solidFill>
              </a:rPr>
              <a:t>ATTACKER</a:t>
            </a:r>
            <a:endParaRPr lang="en-US" sz="1200" dirty="0"/>
          </a:p>
        </p:txBody>
      </p:sp>
      <p:sp>
        <p:nvSpPr>
          <p:cNvPr id="7" name="Text 5"/>
          <p:cNvSpPr/>
          <p:nvPr/>
        </p:nvSpPr>
        <p:spPr>
          <a:xfrm>
            <a:off x="274320" y="1353312"/>
            <a:ext cx="2103120" cy="411480"/>
          </a:xfrm>
          <a:prstGeom prst="rect">
            <a:avLst/>
          </a:prstGeom>
          <a:noFill/>
        </p:spPr>
        <p:txBody>
          <a:bodyPr wrap="square" rtlCol="0" anchor="ctr"/>
          <a:lstStyle/>
          <a:p>
            <a:pPr marL="0" indent="0" algn="ctr">
              <a:buNone/>
            </a:pPr>
            <a:r>
              <a:rPr lang="en-US" sz="1700" b="1" dirty="0">
                <a:solidFill>
                  <a:srgbClr val="FFFFFF"/>
                </a:solidFill>
              </a:rPr>
              <a:t>Kali Linux</a:t>
            </a:r>
            <a:endParaRPr lang="en-US" sz="1700" dirty="0"/>
          </a:p>
        </p:txBody>
      </p:sp>
      <p:sp>
        <p:nvSpPr>
          <p:cNvPr id="8" name="Text 6"/>
          <p:cNvSpPr/>
          <p:nvPr/>
        </p:nvSpPr>
        <p:spPr>
          <a:xfrm>
            <a:off x="274320" y="1810512"/>
            <a:ext cx="2103120" cy="347472"/>
          </a:xfrm>
          <a:prstGeom prst="rect">
            <a:avLst/>
          </a:prstGeom>
          <a:noFill/>
        </p:spPr>
        <p:txBody>
          <a:bodyPr wrap="square" rtlCol="0" anchor="ctr"/>
          <a:lstStyle/>
          <a:p>
            <a:pPr marL="0" indent="0" algn="ctr">
              <a:buNone/>
            </a:pPr>
            <a:r>
              <a:rPr lang="en-US" sz="1300" b="1" dirty="0">
                <a:solidFill>
                  <a:srgbClr val="39D1F5"/>
                </a:solidFill>
              </a:rPr>
              <a:t>10.233.101.49</a:t>
            </a:r>
            <a:endParaRPr lang="en-US" sz="1300" dirty="0"/>
          </a:p>
        </p:txBody>
      </p:sp>
      <p:sp>
        <p:nvSpPr>
          <p:cNvPr id="9" name="Text 7"/>
          <p:cNvSpPr/>
          <p:nvPr/>
        </p:nvSpPr>
        <p:spPr>
          <a:xfrm>
            <a:off x="274320" y="2176272"/>
            <a:ext cx="2103120" cy="274320"/>
          </a:xfrm>
          <a:prstGeom prst="rect">
            <a:avLst/>
          </a:prstGeom>
          <a:noFill/>
        </p:spPr>
        <p:txBody>
          <a:bodyPr wrap="square" rtlCol="0" anchor="ctr"/>
          <a:lstStyle/>
          <a:p>
            <a:pPr marL="0" indent="0" algn="ctr">
              <a:buNone/>
            </a:pPr>
            <a:r>
              <a:rPr lang="en-US" sz="1000" dirty="0">
                <a:solidFill>
                  <a:srgbClr val="8B949E"/>
                </a:solidFill>
              </a:rPr>
              <a:t>eth0</a:t>
            </a:r>
            <a:endParaRPr lang="en-US" sz="1000" dirty="0"/>
          </a:p>
        </p:txBody>
      </p:sp>
      <p:sp>
        <p:nvSpPr>
          <p:cNvPr id="10" name="Shape 8"/>
          <p:cNvSpPr/>
          <p:nvPr/>
        </p:nvSpPr>
        <p:spPr>
          <a:xfrm>
            <a:off x="3520440" y="914400"/>
            <a:ext cx="2103120" cy="1541145"/>
          </a:xfrm>
          <a:prstGeom prst="rect">
            <a:avLst/>
          </a:prstGeom>
          <a:solidFill>
            <a:srgbClr val="0D2137"/>
          </a:solidFill>
          <a:ln w="25400">
            <a:solidFill>
              <a:srgbClr val="39D1F5"/>
            </a:solidFill>
            <a:prstDash val="solid"/>
          </a:ln>
          <a:effectLst>
            <a:outerShdw blurRad="101600" dist="38100" dir="8100000" algn="bl" rotWithShape="0">
              <a:srgbClr val="000000">
                <a:alpha val="30000"/>
              </a:srgbClr>
            </a:outerShdw>
          </a:effectLst>
        </p:spPr>
      </p:sp>
      <p:sp>
        <p:nvSpPr>
          <p:cNvPr id="11" name="Shape 9"/>
          <p:cNvSpPr/>
          <p:nvPr/>
        </p:nvSpPr>
        <p:spPr>
          <a:xfrm>
            <a:off x="3520440" y="914400"/>
            <a:ext cx="2103120" cy="365760"/>
          </a:xfrm>
          <a:prstGeom prst="rect">
            <a:avLst/>
          </a:prstGeom>
          <a:solidFill>
            <a:srgbClr val="39D1F5"/>
          </a:solidFill>
          <a:ln w="12700">
            <a:solidFill>
              <a:srgbClr val="39D1F5"/>
            </a:solidFill>
            <a:prstDash val="solid"/>
          </a:ln>
        </p:spPr>
      </p:sp>
      <p:sp>
        <p:nvSpPr>
          <p:cNvPr id="12" name="Text 10"/>
          <p:cNvSpPr/>
          <p:nvPr/>
        </p:nvSpPr>
        <p:spPr>
          <a:xfrm>
            <a:off x="3520440" y="914400"/>
            <a:ext cx="2103120" cy="365760"/>
          </a:xfrm>
          <a:prstGeom prst="rect">
            <a:avLst/>
          </a:prstGeom>
          <a:noFill/>
        </p:spPr>
        <p:txBody>
          <a:bodyPr wrap="square" rtlCol="0" anchor="ctr"/>
          <a:lstStyle/>
          <a:p>
            <a:pPr marL="0" indent="0" algn="ctr">
              <a:buNone/>
            </a:pPr>
            <a:r>
              <a:rPr lang="en-US" sz="1200" b="1" dirty="0">
                <a:solidFill>
                  <a:srgbClr val="0D1117"/>
                </a:solidFill>
              </a:rPr>
              <a:t>VICTIM</a:t>
            </a:r>
            <a:endParaRPr lang="en-US" sz="1200" dirty="0"/>
          </a:p>
        </p:txBody>
      </p:sp>
      <p:sp>
        <p:nvSpPr>
          <p:cNvPr id="13" name="Text 11"/>
          <p:cNvSpPr/>
          <p:nvPr/>
        </p:nvSpPr>
        <p:spPr>
          <a:xfrm>
            <a:off x="3520440" y="1353312"/>
            <a:ext cx="2103120" cy="411480"/>
          </a:xfrm>
          <a:prstGeom prst="rect">
            <a:avLst/>
          </a:prstGeom>
          <a:noFill/>
        </p:spPr>
        <p:txBody>
          <a:bodyPr wrap="square" rtlCol="0" anchor="ctr"/>
          <a:lstStyle/>
          <a:p>
            <a:pPr marL="0" indent="0" algn="ctr">
              <a:buNone/>
            </a:pPr>
            <a:r>
              <a:rPr lang="en-US" sz="1700" b="1" dirty="0">
                <a:solidFill>
                  <a:srgbClr val="FFFFFF"/>
                </a:solidFill>
              </a:rPr>
              <a:t>Ubuntu</a:t>
            </a:r>
            <a:endParaRPr lang="en-US" sz="1700" dirty="0"/>
          </a:p>
        </p:txBody>
      </p:sp>
      <p:sp>
        <p:nvSpPr>
          <p:cNvPr id="14" name="Text 12"/>
          <p:cNvSpPr/>
          <p:nvPr/>
        </p:nvSpPr>
        <p:spPr>
          <a:xfrm>
            <a:off x="3520440" y="1810512"/>
            <a:ext cx="2103120" cy="347472"/>
          </a:xfrm>
          <a:prstGeom prst="rect">
            <a:avLst/>
          </a:prstGeom>
          <a:noFill/>
        </p:spPr>
        <p:txBody>
          <a:bodyPr wrap="square" rtlCol="0" anchor="ctr"/>
          <a:lstStyle/>
          <a:p>
            <a:pPr marL="0" indent="0" algn="ctr">
              <a:buNone/>
            </a:pPr>
            <a:r>
              <a:rPr lang="en-US" sz="1300" b="1" dirty="0">
                <a:solidFill>
                  <a:srgbClr val="39D1F5"/>
                </a:solidFill>
              </a:rPr>
              <a:t>10.49.83.97</a:t>
            </a:r>
            <a:endParaRPr lang="en-US" sz="1300" dirty="0"/>
          </a:p>
        </p:txBody>
      </p:sp>
      <p:sp>
        <p:nvSpPr>
          <p:cNvPr id="15" name="Text 13"/>
          <p:cNvSpPr/>
          <p:nvPr/>
        </p:nvSpPr>
        <p:spPr>
          <a:xfrm>
            <a:off x="3520440" y="2176272"/>
            <a:ext cx="2103120" cy="274320"/>
          </a:xfrm>
          <a:prstGeom prst="rect">
            <a:avLst/>
          </a:prstGeom>
          <a:noFill/>
        </p:spPr>
        <p:txBody>
          <a:bodyPr wrap="square" rtlCol="0" anchor="ctr"/>
          <a:lstStyle/>
          <a:p>
            <a:pPr marL="0" indent="0" algn="ctr">
              <a:buNone/>
            </a:pPr>
            <a:r>
              <a:rPr lang="en-US" sz="1000" dirty="0">
                <a:solidFill>
                  <a:srgbClr val="8B949E"/>
                </a:solidFill>
              </a:rPr>
              <a:t>enp0s3</a:t>
            </a:r>
            <a:endParaRPr lang="en-US" sz="1000" dirty="0"/>
          </a:p>
        </p:txBody>
      </p:sp>
      <p:sp>
        <p:nvSpPr>
          <p:cNvPr id="16" name="Shape 14"/>
          <p:cNvSpPr/>
          <p:nvPr/>
        </p:nvSpPr>
        <p:spPr>
          <a:xfrm>
            <a:off x="6766560" y="914400"/>
            <a:ext cx="2103120" cy="1536065"/>
          </a:xfrm>
          <a:prstGeom prst="rect">
            <a:avLst/>
          </a:prstGeom>
          <a:solidFill>
            <a:srgbClr val="0D2137"/>
          </a:solidFill>
          <a:ln w="25400">
            <a:solidFill>
              <a:srgbClr val="3FB950"/>
            </a:solidFill>
            <a:prstDash val="solid"/>
          </a:ln>
          <a:effectLst>
            <a:outerShdw blurRad="101600" dist="38100" dir="8100000" algn="bl" rotWithShape="0">
              <a:srgbClr val="000000">
                <a:alpha val="30000"/>
              </a:srgbClr>
            </a:outerShdw>
          </a:effectLst>
        </p:spPr>
      </p:sp>
      <p:sp>
        <p:nvSpPr>
          <p:cNvPr id="17" name="Shape 15"/>
          <p:cNvSpPr/>
          <p:nvPr/>
        </p:nvSpPr>
        <p:spPr>
          <a:xfrm>
            <a:off x="6766560" y="914400"/>
            <a:ext cx="2103120" cy="365760"/>
          </a:xfrm>
          <a:prstGeom prst="rect">
            <a:avLst/>
          </a:prstGeom>
          <a:solidFill>
            <a:srgbClr val="3FB950"/>
          </a:solidFill>
          <a:ln w="12700">
            <a:solidFill>
              <a:srgbClr val="3FB950"/>
            </a:solidFill>
            <a:prstDash val="solid"/>
          </a:ln>
        </p:spPr>
      </p:sp>
      <p:sp>
        <p:nvSpPr>
          <p:cNvPr id="18" name="Text 16"/>
          <p:cNvSpPr/>
          <p:nvPr/>
        </p:nvSpPr>
        <p:spPr>
          <a:xfrm>
            <a:off x="6766560" y="914400"/>
            <a:ext cx="2103120" cy="365760"/>
          </a:xfrm>
          <a:prstGeom prst="rect">
            <a:avLst/>
          </a:prstGeom>
          <a:noFill/>
        </p:spPr>
        <p:txBody>
          <a:bodyPr wrap="square" rtlCol="0" anchor="ctr"/>
          <a:lstStyle/>
          <a:p>
            <a:pPr marL="0" indent="0" algn="ctr">
              <a:buNone/>
            </a:pPr>
            <a:r>
              <a:rPr lang="en-US" sz="1200" b="1" dirty="0">
                <a:solidFill>
                  <a:srgbClr val="0D1117"/>
                </a:solidFill>
              </a:rPr>
              <a:t>GATEWAY</a:t>
            </a:r>
            <a:endParaRPr lang="en-US" sz="1200" dirty="0"/>
          </a:p>
        </p:txBody>
      </p:sp>
      <p:sp>
        <p:nvSpPr>
          <p:cNvPr id="19" name="Text 17"/>
          <p:cNvSpPr/>
          <p:nvPr/>
        </p:nvSpPr>
        <p:spPr>
          <a:xfrm>
            <a:off x="6766560" y="1353312"/>
            <a:ext cx="2103120" cy="411480"/>
          </a:xfrm>
          <a:prstGeom prst="rect">
            <a:avLst/>
          </a:prstGeom>
          <a:noFill/>
        </p:spPr>
        <p:txBody>
          <a:bodyPr wrap="square" rtlCol="0" anchor="ctr"/>
          <a:lstStyle/>
          <a:p>
            <a:pPr marL="0" indent="0" algn="ctr">
              <a:buNone/>
            </a:pPr>
            <a:r>
              <a:rPr lang="en-US" sz="1700" b="1" dirty="0">
                <a:solidFill>
                  <a:srgbClr val="FFFFFF"/>
                </a:solidFill>
              </a:rPr>
              <a:t>Router</a:t>
            </a:r>
            <a:endParaRPr lang="en-US" sz="1700" dirty="0"/>
          </a:p>
        </p:txBody>
      </p:sp>
      <p:sp>
        <p:nvSpPr>
          <p:cNvPr id="20" name="Text 18"/>
          <p:cNvSpPr/>
          <p:nvPr/>
        </p:nvSpPr>
        <p:spPr>
          <a:xfrm>
            <a:off x="6766560" y="1810512"/>
            <a:ext cx="2103120" cy="347472"/>
          </a:xfrm>
          <a:prstGeom prst="rect">
            <a:avLst/>
          </a:prstGeom>
          <a:noFill/>
        </p:spPr>
        <p:txBody>
          <a:bodyPr wrap="square" rtlCol="0" anchor="ctr"/>
          <a:lstStyle/>
          <a:p>
            <a:pPr marL="0" indent="0" algn="ctr">
              <a:buNone/>
            </a:pPr>
            <a:r>
              <a:rPr lang="en-US" sz="1300" b="1" dirty="0">
                <a:solidFill>
                  <a:srgbClr val="39D1F5"/>
                </a:solidFill>
              </a:rPr>
              <a:t>10.49.80.1</a:t>
            </a:r>
            <a:endParaRPr lang="en-US" sz="1300" dirty="0"/>
          </a:p>
        </p:txBody>
      </p:sp>
      <p:sp>
        <p:nvSpPr>
          <p:cNvPr id="21" name="Text 19"/>
          <p:cNvSpPr/>
          <p:nvPr/>
        </p:nvSpPr>
        <p:spPr>
          <a:xfrm>
            <a:off x="6766560" y="2176272"/>
            <a:ext cx="2103120" cy="274320"/>
          </a:xfrm>
          <a:prstGeom prst="rect">
            <a:avLst/>
          </a:prstGeom>
          <a:noFill/>
        </p:spPr>
        <p:txBody>
          <a:bodyPr wrap="square" rtlCol="0" anchor="ctr"/>
          <a:lstStyle/>
          <a:p>
            <a:pPr marL="0" indent="0" algn="ctr">
              <a:buNone/>
            </a:pPr>
            <a:r>
              <a:rPr lang="en-US" sz="1000" dirty="0">
                <a:solidFill>
                  <a:srgbClr val="8B949E"/>
                </a:solidFill>
              </a:rPr>
              <a:t>Default GW</a:t>
            </a:r>
            <a:endParaRPr lang="en-US" sz="1000" dirty="0"/>
          </a:p>
        </p:txBody>
      </p:sp>
      <p:sp>
        <p:nvSpPr>
          <p:cNvPr id="22" name="Shape 20"/>
          <p:cNvSpPr/>
          <p:nvPr/>
        </p:nvSpPr>
        <p:spPr>
          <a:xfrm>
            <a:off x="2395728" y="2084832"/>
            <a:ext cx="1097280" cy="0"/>
          </a:xfrm>
          <a:prstGeom prst="line">
            <a:avLst/>
          </a:prstGeom>
          <a:noFill/>
          <a:ln w="25400">
            <a:solidFill>
              <a:srgbClr val="F85149"/>
            </a:solidFill>
            <a:prstDash val="dash"/>
          </a:ln>
        </p:spPr>
      </p:sp>
      <p:sp>
        <p:nvSpPr>
          <p:cNvPr id="23" name="Text 21"/>
          <p:cNvSpPr/>
          <p:nvPr/>
        </p:nvSpPr>
        <p:spPr>
          <a:xfrm>
            <a:off x="2395728" y="1810512"/>
            <a:ext cx="1097280" cy="256032"/>
          </a:xfrm>
          <a:prstGeom prst="rect">
            <a:avLst/>
          </a:prstGeom>
          <a:noFill/>
        </p:spPr>
        <p:txBody>
          <a:bodyPr wrap="square" rtlCol="0" anchor="ctr"/>
          <a:lstStyle/>
          <a:p>
            <a:pPr marL="0" indent="0" algn="ctr">
              <a:buNone/>
            </a:pPr>
            <a:r>
              <a:rPr lang="en-US" sz="900" dirty="0">
                <a:solidFill>
                  <a:srgbClr val="F85149"/>
                </a:solidFill>
              </a:rPr>
              <a:t>ARP Spoof</a:t>
            </a:r>
            <a:endParaRPr lang="en-US" sz="900" dirty="0"/>
          </a:p>
        </p:txBody>
      </p:sp>
      <p:sp>
        <p:nvSpPr>
          <p:cNvPr id="24" name="Shape 22"/>
          <p:cNvSpPr/>
          <p:nvPr/>
        </p:nvSpPr>
        <p:spPr>
          <a:xfrm>
            <a:off x="5641848" y="2084832"/>
            <a:ext cx="1097280" cy="0"/>
          </a:xfrm>
          <a:prstGeom prst="line">
            <a:avLst/>
          </a:prstGeom>
          <a:noFill/>
          <a:ln w="25400">
            <a:solidFill>
              <a:srgbClr val="F85149"/>
            </a:solidFill>
            <a:prstDash val="dash"/>
          </a:ln>
        </p:spPr>
      </p:sp>
      <p:sp>
        <p:nvSpPr>
          <p:cNvPr id="25" name="Text 23"/>
          <p:cNvSpPr/>
          <p:nvPr/>
        </p:nvSpPr>
        <p:spPr>
          <a:xfrm>
            <a:off x="5641848" y="1810512"/>
            <a:ext cx="1097280" cy="256032"/>
          </a:xfrm>
          <a:prstGeom prst="rect">
            <a:avLst/>
          </a:prstGeom>
          <a:noFill/>
        </p:spPr>
        <p:txBody>
          <a:bodyPr wrap="square" rtlCol="0" anchor="ctr"/>
          <a:lstStyle/>
          <a:p>
            <a:pPr marL="0" indent="0" algn="ctr">
              <a:buNone/>
            </a:pPr>
            <a:r>
              <a:rPr lang="en-US" sz="900" dirty="0">
                <a:solidFill>
                  <a:srgbClr val="F85149"/>
                </a:solidFill>
              </a:rPr>
              <a:t>ARP Spoof</a:t>
            </a:r>
            <a:endParaRPr lang="en-US" sz="900" dirty="0"/>
          </a:p>
        </p:txBody>
      </p:sp>
      <p:sp>
        <p:nvSpPr>
          <p:cNvPr id="26" name="Shape 24"/>
          <p:cNvSpPr/>
          <p:nvPr/>
        </p:nvSpPr>
        <p:spPr>
          <a:xfrm>
            <a:off x="274320" y="3429000"/>
            <a:ext cx="3931920" cy="1325880"/>
          </a:xfrm>
          <a:prstGeom prst="rect">
            <a:avLst/>
          </a:prstGeom>
          <a:solidFill>
            <a:srgbClr val="0D2137"/>
          </a:solidFill>
          <a:ln w="12700">
            <a:solidFill>
              <a:srgbClr val="3FB950"/>
            </a:solidFill>
            <a:prstDash val="solid"/>
          </a:ln>
        </p:spPr>
      </p:sp>
      <p:sp>
        <p:nvSpPr>
          <p:cNvPr id="27" name="Text 25"/>
          <p:cNvSpPr/>
          <p:nvPr/>
        </p:nvSpPr>
        <p:spPr>
          <a:xfrm>
            <a:off x="320040" y="2687955"/>
            <a:ext cx="3840480" cy="261620"/>
          </a:xfrm>
          <a:prstGeom prst="rect">
            <a:avLst/>
          </a:prstGeom>
          <a:noFill/>
        </p:spPr>
        <p:txBody>
          <a:bodyPr wrap="square" rtlCol="0" anchor="ctr"/>
          <a:lstStyle/>
          <a:p>
            <a:pPr marL="0" indent="0">
              <a:buNone/>
            </a:pPr>
            <a:r>
              <a:rPr lang="en-US" sz="1000" b="1" dirty="0">
                <a:solidFill>
                  <a:srgbClr val="3FB950"/>
                </a:solidFill>
              </a:rPr>
              <a:t>Kali → Ubuntu Ping (Connected!)</a:t>
            </a:r>
            <a:endParaRPr lang="en-US" sz="1000" dirty="0"/>
          </a:p>
        </p:txBody>
      </p:sp>
      <p:pic>
        <p:nvPicPr>
          <p:cNvPr id="28" name="Image 0" descr="preencoded.png"/>
          <p:cNvPicPr>
            <a:picLocks noChangeAspect="1"/>
          </p:cNvPicPr>
          <p:nvPr/>
        </p:nvPicPr>
        <p:blipFill>
          <a:blip r:embed="rId1"/>
          <a:stretch>
            <a:fillRect/>
          </a:stretch>
        </p:blipFill>
        <p:spPr>
          <a:xfrm>
            <a:off x="320040" y="2955925"/>
            <a:ext cx="3840480" cy="1768475"/>
          </a:xfrm>
          <a:prstGeom prst="rect">
            <a:avLst/>
          </a:prstGeom>
        </p:spPr>
      </p:pic>
      <p:sp>
        <p:nvSpPr>
          <p:cNvPr id="29" name="Shape 26"/>
          <p:cNvSpPr/>
          <p:nvPr/>
        </p:nvSpPr>
        <p:spPr>
          <a:xfrm>
            <a:off x="4937760" y="3429000"/>
            <a:ext cx="3931920" cy="1325880"/>
          </a:xfrm>
          <a:prstGeom prst="rect">
            <a:avLst/>
          </a:prstGeom>
          <a:solidFill>
            <a:srgbClr val="0D2137"/>
          </a:solidFill>
          <a:ln w="12700">
            <a:solidFill>
              <a:srgbClr val="39D1F5"/>
            </a:solidFill>
            <a:prstDash val="solid"/>
          </a:ln>
        </p:spPr>
      </p:sp>
      <p:sp>
        <p:nvSpPr>
          <p:cNvPr id="30" name="Text 27"/>
          <p:cNvSpPr/>
          <p:nvPr/>
        </p:nvSpPr>
        <p:spPr>
          <a:xfrm>
            <a:off x="4983480" y="2572385"/>
            <a:ext cx="3840480" cy="349250"/>
          </a:xfrm>
          <a:prstGeom prst="rect">
            <a:avLst/>
          </a:prstGeom>
          <a:noFill/>
        </p:spPr>
        <p:txBody>
          <a:bodyPr wrap="square" rtlCol="0" anchor="ctr"/>
          <a:lstStyle/>
          <a:p>
            <a:pPr marL="0" indent="0">
              <a:buNone/>
            </a:pPr>
            <a:r>
              <a:rPr lang="en-US" sz="1000" b="1" dirty="0">
                <a:solidFill>
                  <a:srgbClr val="39D1F5"/>
                </a:solidFill>
              </a:rPr>
              <a:t>Ubuntu → Kali Ping (Connected!)</a:t>
            </a:r>
            <a:endParaRPr lang="en-US" sz="1000" dirty="0"/>
          </a:p>
        </p:txBody>
      </p:sp>
      <p:pic>
        <p:nvPicPr>
          <p:cNvPr id="31" name="Image 1" descr="preencoded.png"/>
          <p:cNvPicPr>
            <a:picLocks noChangeAspect="1"/>
          </p:cNvPicPr>
          <p:nvPr/>
        </p:nvPicPr>
        <p:blipFill>
          <a:blip r:embed="rId2"/>
          <a:stretch>
            <a:fillRect/>
          </a:stretch>
        </p:blipFill>
        <p:spPr>
          <a:xfrm>
            <a:off x="4983480" y="2861945"/>
            <a:ext cx="3840480" cy="2057400"/>
          </a:xfrm>
          <a:prstGeom prst="rect">
            <a:avLst/>
          </a:prstGeom>
        </p:spPr>
      </p:pic>
      <p:sp>
        <p:nvSpPr>
          <p:cNvPr id="32" name="Shape 28"/>
          <p:cNvSpPr/>
          <p:nvPr/>
        </p:nvSpPr>
        <p:spPr>
          <a:xfrm>
            <a:off x="0" y="5056632"/>
            <a:ext cx="9144000" cy="73152"/>
          </a:xfrm>
          <a:prstGeom prst="rect">
            <a:avLst/>
          </a:prstGeom>
          <a:solidFill>
            <a:srgbClr val="1F6FEB"/>
          </a:solidFill>
          <a:ln w="12700">
            <a:solidFill>
              <a:srgbClr val="1F6FE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85149"/>
          </a:solidFill>
          <a:ln w="12700">
            <a:solidFill>
              <a:srgbClr val="F85149"/>
            </a:solidFill>
            <a:prstDash val="solid"/>
          </a:ln>
        </p:spPr>
      </p:sp>
      <p:sp>
        <p:nvSpPr>
          <p:cNvPr id="3" name="Text 1"/>
          <p:cNvSpPr/>
          <p:nvPr/>
        </p:nvSpPr>
        <p:spPr>
          <a:xfrm>
            <a:off x="365760" y="137160"/>
            <a:ext cx="8229600" cy="566928"/>
          </a:xfrm>
          <a:prstGeom prst="rect">
            <a:avLst/>
          </a:prstGeom>
          <a:noFill/>
        </p:spPr>
        <p:txBody>
          <a:bodyPr wrap="square" rtlCol="0" anchor="ctr"/>
          <a:lstStyle/>
          <a:p>
            <a:pPr marL="0" indent="0">
              <a:buNone/>
            </a:pPr>
            <a:r>
              <a:rPr lang="en-US" sz="2800" b="1" dirty="0">
                <a:solidFill>
                  <a:srgbClr val="FFFFFF"/>
                </a:solidFill>
              </a:rPr>
              <a:t>Attack Demo — Ettercap Host Discovery</a:t>
            </a:r>
            <a:endParaRPr lang="en-US" sz="2800" dirty="0"/>
          </a:p>
        </p:txBody>
      </p:sp>
      <p:sp>
        <p:nvSpPr>
          <p:cNvPr id="4" name="Text 2"/>
          <p:cNvSpPr/>
          <p:nvPr/>
        </p:nvSpPr>
        <p:spPr>
          <a:xfrm>
            <a:off x="365760" y="713232"/>
            <a:ext cx="2743200" cy="256032"/>
          </a:xfrm>
          <a:prstGeom prst="rect">
            <a:avLst/>
          </a:prstGeom>
          <a:noFill/>
        </p:spPr>
        <p:txBody>
          <a:bodyPr wrap="square" rtlCol="0" anchor="ctr"/>
          <a:lstStyle/>
          <a:p>
            <a:pPr marL="0" indent="0">
              <a:buNone/>
            </a:pPr>
            <a:r>
              <a:rPr lang="en-US" sz="1100" b="1" dirty="0">
                <a:solidFill>
                  <a:srgbClr val="F85149"/>
                </a:solidFill>
              </a:rPr>
              <a:t>[ RED TEAM PHASE ]</a:t>
            </a:r>
            <a:endParaRPr lang="en-US" sz="1100" dirty="0"/>
          </a:p>
        </p:txBody>
      </p:sp>
      <p:sp>
        <p:nvSpPr>
          <p:cNvPr id="5" name="Shape 3"/>
          <p:cNvSpPr/>
          <p:nvPr/>
        </p:nvSpPr>
        <p:spPr>
          <a:xfrm>
            <a:off x="274320" y="1005840"/>
            <a:ext cx="5303520" cy="3749040"/>
          </a:xfrm>
          <a:prstGeom prst="rect">
            <a:avLst/>
          </a:prstGeom>
          <a:solidFill>
            <a:srgbClr val="0D2137"/>
          </a:solidFill>
          <a:ln w="25400">
            <a:solidFill>
              <a:srgbClr val="F85149"/>
            </a:solidFill>
            <a:prstDash val="solid"/>
          </a:ln>
          <a:effectLst>
            <a:outerShdw blurRad="101600" dist="38100" dir="8100000" algn="bl" rotWithShape="0">
              <a:srgbClr val="000000">
                <a:alpha val="30000"/>
              </a:srgbClr>
            </a:outerShdw>
          </a:effectLst>
        </p:spPr>
      </p:sp>
      <p:sp>
        <p:nvSpPr>
          <p:cNvPr id="6" name="Text 4"/>
          <p:cNvSpPr/>
          <p:nvPr/>
        </p:nvSpPr>
        <p:spPr>
          <a:xfrm>
            <a:off x="320040" y="1033272"/>
            <a:ext cx="5212080" cy="274320"/>
          </a:xfrm>
          <a:prstGeom prst="rect">
            <a:avLst/>
          </a:prstGeom>
          <a:noFill/>
        </p:spPr>
        <p:txBody>
          <a:bodyPr wrap="square" rtlCol="0" anchor="ctr"/>
          <a:lstStyle/>
          <a:p>
            <a:pPr marL="0" indent="0">
              <a:buNone/>
            </a:pPr>
            <a:r>
              <a:rPr lang="en-US" sz="1100" b="1" dirty="0">
                <a:solidFill>
                  <a:srgbClr val="F85149"/>
                </a:solidFill>
              </a:rPr>
              <a:t>Ettercap Host List — Real Scan</a:t>
            </a:r>
            <a:endParaRPr lang="en-US" sz="1100" dirty="0"/>
          </a:p>
        </p:txBody>
      </p:sp>
      <p:pic>
        <p:nvPicPr>
          <p:cNvPr id="7" name="Image 0" descr="preencoded.png"/>
          <p:cNvPicPr>
            <a:picLocks noChangeAspect="1"/>
          </p:cNvPicPr>
          <p:nvPr/>
        </p:nvPicPr>
        <p:blipFill>
          <a:blip r:embed="rId1"/>
          <a:stretch>
            <a:fillRect/>
          </a:stretch>
        </p:blipFill>
        <p:spPr>
          <a:xfrm>
            <a:off x="320040" y="1325880"/>
            <a:ext cx="5212080" cy="3383280"/>
          </a:xfrm>
          <a:prstGeom prst="rect">
            <a:avLst/>
          </a:prstGeom>
        </p:spPr>
      </p:pic>
      <p:sp>
        <p:nvSpPr>
          <p:cNvPr id="8" name="Shape 5"/>
          <p:cNvSpPr/>
          <p:nvPr/>
        </p:nvSpPr>
        <p:spPr>
          <a:xfrm>
            <a:off x="5760720" y="1005840"/>
            <a:ext cx="3108960" cy="3749040"/>
          </a:xfrm>
          <a:prstGeom prst="rect">
            <a:avLst/>
          </a:prstGeom>
          <a:solidFill>
            <a:srgbClr val="0D2137"/>
          </a:solidFill>
          <a:ln w="12700">
            <a:solidFill>
              <a:srgbClr val="1F6FEB"/>
            </a:solidFill>
            <a:prstDash val="solid"/>
          </a:ln>
        </p:spPr>
      </p:sp>
      <p:sp>
        <p:nvSpPr>
          <p:cNvPr id="9" name="Text 6"/>
          <p:cNvSpPr/>
          <p:nvPr/>
        </p:nvSpPr>
        <p:spPr>
          <a:xfrm>
            <a:off x="5897880" y="1097280"/>
            <a:ext cx="2834640" cy="292608"/>
          </a:xfrm>
          <a:prstGeom prst="rect">
            <a:avLst/>
          </a:prstGeom>
          <a:noFill/>
        </p:spPr>
        <p:txBody>
          <a:bodyPr wrap="square" rtlCol="0" anchor="ctr"/>
          <a:lstStyle/>
          <a:p>
            <a:pPr marL="0" indent="0">
              <a:buNone/>
            </a:pPr>
            <a:r>
              <a:rPr lang="en-US" sz="1300" b="1" dirty="0">
                <a:solidFill>
                  <a:srgbClr val="39D1F5"/>
                </a:solidFill>
              </a:rPr>
              <a:t>Steps Performed:</a:t>
            </a:r>
            <a:endParaRPr lang="en-US" sz="1300" dirty="0"/>
          </a:p>
        </p:txBody>
      </p:sp>
      <p:sp>
        <p:nvSpPr>
          <p:cNvPr id="10" name="Shape 7"/>
          <p:cNvSpPr/>
          <p:nvPr/>
        </p:nvSpPr>
        <p:spPr>
          <a:xfrm>
            <a:off x="5897880" y="1481328"/>
            <a:ext cx="2834640" cy="347472"/>
          </a:xfrm>
          <a:prstGeom prst="rect">
            <a:avLst/>
          </a:prstGeom>
          <a:solidFill>
            <a:srgbClr val="0A1628"/>
          </a:solidFill>
          <a:ln w="12700">
            <a:solidFill>
              <a:srgbClr val="1F2937"/>
            </a:solidFill>
            <a:prstDash val="solid"/>
          </a:ln>
        </p:spPr>
      </p:sp>
      <p:sp>
        <p:nvSpPr>
          <p:cNvPr id="11" name="Text 8"/>
          <p:cNvSpPr/>
          <p:nvPr/>
        </p:nvSpPr>
        <p:spPr>
          <a:xfrm>
            <a:off x="5943600" y="1499616"/>
            <a:ext cx="2743200" cy="310896"/>
          </a:xfrm>
          <a:prstGeom prst="rect">
            <a:avLst/>
          </a:prstGeom>
          <a:noFill/>
        </p:spPr>
        <p:txBody>
          <a:bodyPr wrap="square" rtlCol="0" anchor="ctr"/>
          <a:lstStyle/>
          <a:p>
            <a:pPr marL="0" indent="0">
              <a:buNone/>
            </a:pPr>
            <a:r>
              <a:rPr lang="en-US" sz="1100" dirty="0">
                <a:solidFill>
                  <a:srgbClr val="3FB950"/>
                </a:solidFill>
                <a:latin typeface="Consolas" panose="020B0609020204030204" pitchFamily="34" charset="0"/>
                <a:ea typeface="Consolas" panose="020B0609020204030204" pitchFamily="34" charset="-122"/>
                <a:cs typeface="Consolas" panose="020B0609020204030204" pitchFamily="34" charset="-120"/>
              </a:rPr>
              <a:t>1. sudo ettercap -G</a:t>
            </a:r>
            <a:endParaRPr lang="en-US" sz="1100" dirty="0"/>
          </a:p>
        </p:txBody>
      </p:sp>
      <p:sp>
        <p:nvSpPr>
          <p:cNvPr id="12" name="Shape 9"/>
          <p:cNvSpPr/>
          <p:nvPr/>
        </p:nvSpPr>
        <p:spPr>
          <a:xfrm>
            <a:off x="5897880" y="1920240"/>
            <a:ext cx="2834640" cy="347472"/>
          </a:xfrm>
          <a:prstGeom prst="rect">
            <a:avLst/>
          </a:prstGeom>
          <a:solidFill>
            <a:srgbClr val="0D2137"/>
          </a:solidFill>
          <a:ln w="12700">
            <a:solidFill>
              <a:srgbClr val="1F2937"/>
            </a:solidFill>
            <a:prstDash val="solid"/>
          </a:ln>
        </p:spPr>
      </p:sp>
      <p:sp>
        <p:nvSpPr>
          <p:cNvPr id="13" name="Text 10"/>
          <p:cNvSpPr/>
          <p:nvPr/>
        </p:nvSpPr>
        <p:spPr>
          <a:xfrm>
            <a:off x="5943600" y="1938528"/>
            <a:ext cx="2743200" cy="310896"/>
          </a:xfrm>
          <a:prstGeom prst="rect">
            <a:avLst/>
          </a:prstGeom>
          <a:noFill/>
        </p:spPr>
        <p:txBody>
          <a:bodyPr wrap="square" rtlCol="0" anchor="ctr"/>
          <a:lstStyle/>
          <a:p>
            <a:pPr marL="0" indent="0">
              <a:buNone/>
            </a:pPr>
            <a:r>
              <a:rPr lang="en-US" sz="1100" dirty="0">
                <a:solidFill>
                  <a:srgbClr val="3FB950"/>
                </a:solidFill>
                <a:latin typeface="Consolas" panose="020B0609020204030204" pitchFamily="34" charset="0"/>
                <a:ea typeface="Consolas" panose="020B0609020204030204" pitchFamily="34" charset="-122"/>
                <a:cs typeface="Consolas" panose="020B0609020204030204" pitchFamily="34" charset="-120"/>
              </a:rPr>
              <a:t>2. Hosts &gt; Scan for Hosts</a:t>
            </a:r>
            <a:endParaRPr lang="en-US" sz="1100" dirty="0"/>
          </a:p>
        </p:txBody>
      </p:sp>
      <p:sp>
        <p:nvSpPr>
          <p:cNvPr id="14" name="Shape 11"/>
          <p:cNvSpPr/>
          <p:nvPr/>
        </p:nvSpPr>
        <p:spPr>
          <a:xfrm>
            <a:off x="5897880" y="2359152"/>
            <a:ext cx="2834640" cy="347472"/>
          </a:xfrm>
          <a:prstGeom prst="rect">
            <a:avLst/>
          </a:prstGeom>
          <a:solidFill>
            <a:srgbClr val="0A1628"/>
          </a:solidFill>
          <a:ln w="12700">
            <a:solidFill>
              <a:srgbClr val="1F2937"/>
            </a:solidFill>
            <a:prstDash val="solid"/>
          </a:ln>
        </p:spPr>
      </p:sp>
      <p:sp>
        <p:nvSpPr>
          <p:cNvPr id="15" name="Text 12"/>
          <p:cNvSpPr/>
          <p:nvPr/>
        </p:nvSpPr>
        <p:spPr>
          <a:xfrm>
            <a:off x="5943600" y="2377440"/>
            <a:ext cx="2743200" cy="310896"/>
          </a:xfrm>
          <a:prstGeom prst="rect">
            <a:avLst/>
          </a:prstGeom>
          <a:noFill/>
        </p:spPr>
        <p:txBody>
          <a:bodyPr wrap="square" rtlCol="0" anchor="ctr"/>
          <a:lstStyle/>
          <a:p>
            <a:pPr marL="0" indent="0">
              <a:buNone/>
            </a:pPr>
            <a:r>
              <a:rPr lang="en-US" sz="1100" dirty="0">
                <a:solidFill>
                  <a:srgbClr val="E6EDF3"/>
                </a:solidFill>
                <a:latin typeface="Arial" panose="020B0604020202020204" pitchFamily="34" charset="0"/>
                <a:ea typeface="Arial" panose="020B0604020202020204" pitchFamily="34" charset="-122"/>
                <a:cs typeface="Arial" panose="020B0604020202020204" pitchFamily="34" charset="-120"/>
              </a:rPr>
              <a:t>3. 30+ devices found!</a:t>
            </a:r>
            <a:endParaRPr lang="en-US" sz="1100" dirty="0"/>
          </a:p>
        </p:txBody>
      </p:sp>
      <p:sp>
        <p:nvSpPr>
          <p:cNvPr id="16" name="Shape 13"/>
          <p:cNvSpPr/>
          <p:nvPr/>
        </p:nvSpPr>
        <p:spPr>
          <a:xfrm>
            <a:off x="5897880" y="2798064"/>
            <a:ext cx="2834640" cy="347472"/>
          </a:xfrm>
          <a:prstGeom prst="rect">
            <a:avLst/>
          </a:prstGeom>
          <a:solidFill>
            <a:srgbClr val="0D2137"/>
          </a:solidFill>
          <a:ln w="12700">
            <a:solidFill>
              <a:srgbClr val="1F2937"/>
            </a:solidFill>
            <a:prstDash val="solid"/>
          </a:ln>
        </p:spPr>
      </p:sp>
      <p:sp>
        <p:nvSpPr>
          <p:cNvPr id="17" name="Text 14"/>
          <p:cNvSpPr/>
          <p:nvPr/>
        </p:nvSpPr>
        <p:spPr>
          <a:xfrm>
            <a:off x="5943600" y="2816352"/>
            <a:ext cx="2743200" cy="310896"/>
          </a:xfrm>
          <a:prstGeom prst="rect">
            <a:avLst/>
          </a:prstGeom>
          <a:noFill/>
        </p:spPr>
        <p:txBody>
          <a:bodyPr wrap="square" rtlCol="0" anchor="ctr"/>
          <a:lstStyle/>
          <a:p>
            <a:pPr marL="0" indent="0">
              <a:buNone/>
            </a:pPr>
            <a:r>
              <a:rPr lang="en-US" sz="1100" dirty="0">
                <a:solidFill>
                  <a:srgbClr val="E6EDF3"/>
                </a:solidFill>
                <a:latin typeface="Arial" panose="020B0604020202020204" pitchFamily="34" charset="0"/>
                <a:ea typeface="Arial" panose="020B0604020202020204" pitchFamily="34" charset="-122"/>
                <a:cs typeface="Arial" panose="020B0604020202020204" pitchFamily="34" charset="-120"/>
              </a:rPr>
              <a:t>4. Ubuntu selected Target 1</a:t>
            </a:r>
            <a:endParaRPr lang="en-US" sz="1100" dirty="0"/>
          </a:p>
        </p:txBody>
      </p:sp>
      <p:sp>
        <p:nvSpPr>
          <p:cNvPr id="18" name="Shape 15"/>
          <p:cNvSpPr/>
          <p:nvPr/>
        </p:nvSpPr>
        <p:spPr>
          <a:xfrm>
            <a:off x="5897880" y="3236976"/>
            <a:ext cx="2834640" cy="347472"/>
          </a:xfrm>
          <a:prstGeom prst="rect">
            <a:avLst/>
          </a:prstGeom>
          <a:solidFill>
            <a:srgbClr val="0A1628"/>
          </a:solidFill>
          <a:ln w="12700">
            <a:solidFill>
              <a:srgbClr val="1F2937"/>
            </a:solidFill>
            <a:prstDash val="solid"/>
          </a:ln>
        </p:spPr>
      </p:sp>
      <p:sp>
        <p:nvSpPr>
          <p:cNvPr id="19" name="Text 16"/>
          <p:cNvSpPr/>
          <p:nvPr/>
        </p:nvSpPr>
        <p:spPr>
          <a:xfrm>
            <a:off x="5943600" y="3255264"/>
            <a:ext cx="2743200" cy="310896"/>
          </a:xfrm>
          <a:prstGeom prst="rect">
            <a:avLst/>
          </a:prstGeom>
          <a:noFill/>
        </p:spPr>
        <p:txBody>
          <a:bodyPr wrap="square" rtlCol="0" anchor="ctr"/>
          <a:lstStyle/>
          <a:p>
            <a:pPr marL="0" indent="0">
              <a:buNone/>
            </a:pPr>
            <a:r>
              <a:rPr lang="en-US" sz="1100" dirty="0">
                <a:solidFill>
                  <a:srgbClr val="E6EDF3"/>
                </a:solidFill>
                <a:latin typeface="Arial" panose="020B0604020202020204" pitchFamily="34" charset="0"/>
                <a:ea typeface="Arial" panose="020B0604020202020204" pitchFamily="34" charset="-122"/>
                <a:cs typeface="Arial" panose="020B0604020202020204" pitchFamily="34" charset="-120"/>
              </a:rPr>
              <a:t>5. Gateway selected Target 2</a:t>
            </a:r>
            <a:endParaRPr lang="en-US" sz="1100" dirty="0"/>
          </a:p>
        </p:txBody>
      </p:sp>
      <p:sp>
        <p:nvSpPr>
          <p:cNvPr id="20" name="Shape 17"/>
          <p:cNvSpPr/>
          <p:nvPr/>
        </p:nvSpPr>
        <p:spPr>
          <a:xfrm>
            <a:off x="5897880" y="3675888"/>
            <a:ext cx="2834640" cy="347472"/>
          </a:xfrm>
          <a:prstGeom prst="rect">
            <a:avLst/>
          </a:prstGeom>
          <a:solidFill>
            <a:srgbClr val="0D2137"/>
          </a:solidFill>
          <a:ln w="12700">
            <a:solidFill>
              <a:srgbClr val="1F2937"/>
            </a:solidFill>
            <a:prstDash val="solid"/>
          </a:ln>
        </p:spPr>
      </p:sp>
      <p:sp>
        <p:nvSpPr>
          <p:cNvPr id="21" name="Text 18"/>
          <p:cNvSpPr/>
          <p:nvPr/>
        </p:nvSpPr>
        <p:spPr>
          <a:xfrm>
            <a:off x="5943600" y="3694176"/>
            <a:ext cx="2743200" cy="310896"/>
          </a:xfrm>
          <a:prstGeom prst="rect">
            <a:avLst/>
          </a:prstGeom>
          <a:noFill/>
        </p:spPr>
        <p:txBody>
          <a:bodyPr wrap="square" rtlCol="0" anchor="ctr"/>
          <a:lstStyle/>
          <a:p>
            <a:pPr marL="0" indent="0">
              <a:buNone/>
            </a:pPr>
            <a:r>
              <a:rPr lang="en-US" sz="1100" dirty="0">
                <a:solidFill>
                  <a:srgbClr val="E6EDF3"/>
                </a:solidFill>
                <a:latin typeface="Arial" panose="020B0604020202020204" pitchFamily="34" charset="0"/>
                <a:ea typeface="Arial" panose="020B0604020202020204" pitchFamily="34" charset="-122"/>
                <a:cs typeface="Arial" panose="020B0604020202020204" pitchFamily="34" charset="-120"/>
              </a:rPr>
              <a:t>6. Mitm &gt; ARP Poisoning</a:t>
            </a:r>
            <a:endParaRPr lang="en-US" sz="1100" dirty="0"/>
          </a:p>
        </p:txBody>
      </p:sp>
      <p:sp>
        <p:nvSpPr>
          <p:cNvPr id="22" name="Shape 19"/>
          <p:cNvSpPr/>
          <p:nvPr/>
        </p:nvSpPr>
        <p:spPr>
          <a:xfrm>
            <a:off x="5897880" y="4114800"/>
            <a:ext cx="2834640" cy="347472"/>
          </a:xfrm>
          <a:prstGeom prst="rect">
            <a:avLst/>
          </a:prstGeom>
          <a:solidFill>
            <a:srgbClr val="0A1628"/>
          </a:solidFill>
          <a:ln w="12700">
            <a:solidFill>
              <a:srgbClr val="1F2937"/>
            </a:solidFill>
            <a:prstDash val="solid"/>
          </a:ln>
        </p:spPr>
      </p:sp>
      <p:sp>
        <p:nvSpPr>
          <p:cNvPr id="23" name="Text 20"/>
          <p:cNvSpPr/>
          <p:nvPr/>
        </p:nvSpPr>
        <p:spPr>
          <a:xfrm>
            <a:off x="5943600" y="4133088"/>
            <a:ext cx="2743200" cy="310896"/>
          </a:xfrm>
          <a:prstGeom prst="rect">
            <a:avLst/>
          </a:prstGeom>
          <a:noFill/>
        </p:spPr>
        <p:txBody>
          <a:bodyPr wrap="square" rtlCol="0" anchor="ctr"/>
          <a:lstStyle/>
          <a:p>
            <a:pPr marL="0" indent="0">
              <a:buNone/>
            </a:pPr>
            <a:r>
              <a:rPr lang="en-US" sz="1100" dirty="0">
                <a:solidFill>
                  <a:srgbClr val="E6EDF3"/>
                </a:solidFill>
                <a:latin typeface="Arial" panose="020B0604020202020204" pitchFamily="34" charset="0"/>
                <a:ea typeface="Arial" panose="020B0604020202020204" pitchFamily="34" charset="-122"/>
                <a:cs typeface="Arial" panose="020B0604020202020204" pitchFamily="34" charset="-120"/>
              </a:rPr>
              <a:t>7. Start &gt; Start Sniffing</a:t>
            </a:r>
            <a:endParaRPr lang="en-US" sz="1100" dirty="0"/>
          </a:p>
        </p:txBody>
      </p:sp>
      <p:sp>
        <p:nvSpPr>
          <p:cNvPr id="24" name="Shape 21"/>
          <p:cNvSpPr/>
          <p:nvPr/>
        </p:nvSpPr>
        <p:spPr>
          <a:xfrm>
            <a:off x="0" y="5056632"/>
            <a:ext cx="9144000" cy="73152"/>
          </a:xfrm>
          <a:prstGeom prst="rect">
            <a:avLst/>
          </a:prstGeom>
          <a:solidFill>
            <a:srgbClr val="F85149"/>
          </a:solidFill>
          <a:ln w="12700">
            <a:solidFill>
              <a:srgbClr val="F85149"/>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85149"/>
          </a:solidFill>
          <a:ln w="12700">
            <a:solidFill>
              <a:srgbClr val="F85149"/>
            </a:solidFill>
            <a:prstDash val="solid"/>
          </a:ln>
        </p:spPr>
      </p:sp>
      <p:sp>
        <p:nvSpPr>
          <p:cNvPr id="3" name="Text 1"/>
          <p:cNvSpPr/>
          <p:nvPr/>
        </p:nvSpPr>
        <p:spPr>
          <a:xfrm>
            <a:off x="365760" y="137160"/>
            <a:ext cx="8229600" cy="566928"/>
          </a:xfrm>
          <a:prstGeom prst="rect">
            <a:avLst/>
          </a:prstGeom>
          <a:noFill/>
        </p:spPr>
        <p:txBody>
          <a:bodyPr wrap="square" rtlCol="0" anchor="ctr"/>
          <a:lstStyle/>
          <a:p>
            <a:pPr marL="0" indent="0">
              <a:buNone/>
            </a:pPr>
            <a:r>
              <a:rPr lang="en-US" sz="2800" b="1" dirty="0">
                <a:solidFill>
                  <a:srgbClr val="FFFFFF"/>
                </a:solidFill>
              </a:rPr>
              <a:t>ARP Poisoning — Proof!</a:t>
            </a:r>
            <a:endParaRPr lang="en-US" sz="2800" dirty="0"/>
          </a:p>
        </p:txBody>
      </p:sp>
      <p:sp>
        <p:nvSpPr>
          <p:cNvPr id="4" name="Text 2"/>
          <p:cNvSpPr/>
          <p:nvPr/>
        </p:nvSpPr>
        <p:spPr>
          <a:xfrm>
            <a:off x="365760" y="713232"/>
            <a:ext cx="3657600" cy="256032"/>
          </a:xfrm>
          <a:prstGeom prst="rect">
            <a:avLst/>
          </a:prstGeom>
          <a:noFill/>
        </p:spPr>
        <p:txBody>
          <a:bodyPr wrap="square" rtlCol="0" anchor="ctr"/>
          <a:lstStyle/>
          <a:p>
            <a:pPr marL="0" indent="0">
              <a:buNone/>
            </a:pPr>
            <a:r>
              <a:rPr lang="en-US" sz="1100" b="1" dirty="0">
                <a:solidFill>
                  <a:srgbClr val="F85149"/>
                </a:solidFill>
              </a:rPr>
              <a:t>[ ARP CACHE POISONED ]</a:t>
            </a:r>
            <a:endParaRPr lang="en-US" sz="1100" dirty="0"/>
          </a:p>
        </p:txBody>
      </p:sp>
      <p:sp>
        <p:nvSpPr>
          <p:cNvPr id="5" name="Shape 3"/>
          <p:cNvSpPr/>
          <p:nvPr/>
        </p:nvSpPr>
        <p:spPr>
          <a:xfrm>
            <a:off x="274320" y="1005840"/>
            <a:ext cx="5029200" cy="3749040"/>
          </a:xfrm>
          <a:prstGeom prst="rect">
            <a:avLst/>
          </a:prstGeom>
          <a:solidFill>
            <a:srgbClr val="0D2137"/>
          </a:solidFill>
          <a:ln w="25400">
            <a:solidFill>
              <a:srgbClr val="F85149"/>
            </a:solidFill>
            <a:prstDash val="solid"/>
          </a:ln>
          <a:effectLst>
            <a:outerShdw blurRad="101600" dist="38100" dir="8100000" algn="bl" rotWithShape="0">
              <a:srgbClr val="000000">
                <a:alpha val="30000"/>
              </a:srgbClr>
            </a:outerShdw>
          </a:effectLst>
        </p:spPr>
      </p:sp>
      <p:sp>
        <p:nvSpPr>
          <p:cNvPr id="6" name="Text 4"/>
          <p:cNvSpPr/>
          <p:nvPr/>
        </p:nvSpPr>
        <p:spPr>
          <a:xfrm>
            <a:off x="320040" y="1033272"/>
            <a:ext cx="4937760" cy="274320"/>
          </a:xfrm>
          <a:prstGeom prst="rect">
            <a:avLst/>
          </a:prstGeom>
          <a:noFill/>
        </p:spPr>
        <p:txBody>
          <a:bodyPr wrap="square" rtlCol="0" anchor="ctr"/>
          <a:lstStyle/>
          <a:p>
            <a:pPr marL="0" indent="0">
              <a:buNone/>
            </a:pPr>
            <a:r>
              <a:rPr lang="en-US" sz="1100" b="1" dirty="0">
                <a:solidFill>
                  <a:srgbClr val="F85149"/>
                </a:solidFill>
              </a:rPr>
              <a:t>Ubuntu ARP Table — POISONED!</a:t>
            </a:r>
            <a:endParaRPr lang="en-US" sz="1100" dirty="0"/>
          </a:p>
        </p:txBody>
      </p:sp>
      <p:pic>
        <p:nvPicPr>
          <p:cNvPr id="7" name="Image 0" descr="preencoded.png"/>
          <p:cNvPicPr>
            <a:picLocks noChangeAspect="1"/>
          </p:cNvPicPr>
          <p:nvPr/>
        </p:nvPicPr>
        <p:blipFill>
          <a:blip r:embed="rId1"/>
          <a:stretch>
            <a:fillRect/>
          </a:stretch>
        </p:blipFill>
        <p:spPr>
          <a:xfrm>
            <a:off x="320040" y="1325880"/>
            <a:ext cx="4937760" cy="3383280"/>
          </a:xfrm>
          <a:prstGeom prst="rect">
            <a:avLst/>
          </a:prstGeom>
        </p:spPr>
      </p:pic>
      <p:sp>
        <p:nvSpPr>
          <p:cNvPr id="8" name="Shape 5"/>
          <p:cNvSpPr/>
          <p:nvPr/>
        </p:nvSpPr>
        <p:spPr>
          <a:xfrm>
            <a:off x="5486400" y="1005840"/>
            <a:ext cx="3383280" cy="3749040"/>
          </a:xfrm>
          <a:prstGeom prst="rect">
            <a:avLst/>
          </a:prstGeom>
          <a:solidFill>
            <a:srgbClr val="0D2137"/>
          </a:solidFill>
          <a:ln w="12700">
            <a:solidFill>
              <a:srgbClr val="39D1F5"/>
            </a:solidFill>
            <a:prstDash val="solid"/>
          </a:ln>
        </p:spPr>
      </p:sp>
      <p:sp>
        <p:nvSpPr>
          <p:cNvPr id="9" name="Text 6"/>
          <p:cNvSpPr/>
          <p:nvPr/>
        </p:nvSpPr>
        <p:spPr>
          <a:xfrm>
            <a:off x="5623560" y="1097280"/>
            <a:ext cx="3108960" cy="292608"/>
          </a:xfrm>
          <a:prstGeom prst="rect">
            <a:avLst/>
          </a:prstGeom>
          <a:noFill/>
        </p:spPr>
        <p:txBody>
          <a:bodyPr wrap="square" rtlCol="0" anchor="ctr"/>
          <a:lstStyle/>
          <a:p>
            <a:pPr marL="0" indent="0">
              <a:buNone/>
            </a:pPr>
            <a:r>
              <a:rPr lang="en-US" sz="1300" b="1" dirty="0">
                <a:solidFill>
                  <a:srgbClr val="39D1F5"/>
                </a:solidFill>
              </a:rPr>
              <a:t>What This Proves:</a:t>
            </a:r>
            <a:endParaRPr lang="en-US" sz="1300" dirty="0"/>
          </a:p>
        </p:txBody>
      </p:sp>
      <p:sp>
        <p:nvSpPr>
          <p:cNvPr id="10" name="Text 7"/>
          <p:cNvSpPr/>
          <p:nvPr/>
        </p:nvSpPr>
        <p:spPr>
          <a:xfrm>
            <a:off x="5623560" y="1481328"/>
            <a:ext cx="3108960" cy="329184"/>
          </a:xfrm>
          <a:prstGeom prst="rect">
            <a:avLst/>
          </a:prstGeom>
          <a:noFill/>
        </p:spPr>
        <p:txBody>
          <a:bodyPr wrap="square" rtlCol="0" anchor="ctr"/>
          <a:lstStyle/>
          <a:p>
            <a:pPr marL="0" indent="0">
              <a:buNone/>
            </a:pPr>
            <a:r>
              <a:rPr lang="en-US" sz="1200" b="1" dirty="0">
                <a:solidFill>
                  <a:srgbClr val="F85149"/>
                </a:solidFill>
              </a:rPr>
              <a:t>All IPs same MAC!</a:t>
            </a:r>
            <a:endParaRPr lang="en-US" sz="1200" dirty="0"/>
          </a:p>
        </p:txBody>
      </p:sp>
      <p:sp>
        <p:nvSpPr>
          <p:cNvPr id="11" name="Text 8"/>
          <p:cNvSpPr/>
          <p:nvPr/>
        </p:nvSpPr>
        <p:spPr>
          <a:xfrm>
            <a:off x="5623560" y="1828800"/>
            <a:ext cx="3108960" cy="329184"/>
          </a:xfrm>
          <a:prstGeom prst="rect">
            <a:avLst/>
          </a:prstGeom>
          <a:noFill/>
        </p:spPr>
        <p:txBody>
          <a:bodyPr wrap="square" rtlCol="0" anchor="ctr"/>
          <a:lstStyle/>
          <a:p>
            <a:pPr marL="0" indent="0">
              <a:buNone/>
            </a:pPr>
            <a:r>
              <a:rPr lang="en-US" sz="1200" b="1" dirty="0">
                <a:solidFill>
                  <a:srgbClr val="F85149"/>
                </a:solidFill>
              </a:rPr>
              <a:t>MAC = 08:00:27:6f:d5:be</a:t>
            </a:r>
            <a:endParaRPr lang="en-US" sz="1200" dirty="0"/>
          </a:p>
        </p:txBody>
      </p:sp>
      <p:sp>
        <p:nvSpPr>
          <p:cNvPr id="12" name="Text 9"/>
          <p:cNvSpPr/>
          <p:nvPr/>
        </p:nvSpPr>
        <p:spPr>
          <a:xfrm>
            <a:off x="5623560" y="2176272"/>
            <a:ext cx="3108960" cy="329184"/>
          </a:xfrm>
          <a:prstGeom prst="rect">
            <a:avLst/>
          </a:prstGeom>
          <a:noFill/>
        </p:spPr>
        <p:txBody>
          <a:bodyPr wrap="square" rtlCol="0" anchor="ctr"/>
          <a:lstStyle/>
          <a:p>
            <a:pPr marL="0" indent="0">
              <a:buNone/>
            </a:pPr>
            <a:r>
              <a:rPr lang="en-US" sz="1200" b="1" dirty="0">
                <a:solidFill>
                  <a:srgbClr val="F85149"/>
                </a:solidFill>
              </a:rPr>
              <a:t>This is KALI's MAC!</a:t>
            </a:r>
            <a:endParaRPr lang="en-US" sz="1200" dirty="0"/>
          </a:p>
        </p:txBody>
      </p:sp>
      <p:sp>
        <p:nvSpPr>
          <p:cNvPr id="13" name="Text 10"/>
          <p:cNvSpPr/>
          <p:nvPr/>
        </p:nvSpPr>
        <p:spPr>
          <a:xfrm>
            <a:off x="5623560" y="2523744"/>
            <a:ext cx="3108960" cy="329184"/>
          </a:xfrm>
          <a:prstGeom prst="rect">
            <a:avLst/>
          </a:prstGeom>
          <a:noFill/>
        </p:spPr>
        <p:txBody>
          <a:bodyPr wrap="square" rtlCol="0" anchor="ctr"/>
          <a:lstStyle/>
          <a:p>
            <a:pPr marL="0" indent="0">
              <a:buNone/>
            </a:pPr>
            <a:r>
              <a:rPr lang="en-US" sz="1200" dirty="0">
                <a:solidFill>
                  <a:srgbClr val="8B949E"/>
                </a:solidFill>
              </a:rPr>
              <a:t> </a:t>
            </a:r>
            <a:endParaRPr lang="en-US" sz="1200" dirty="0"/>
          </a:p>
        </p:txBody>
      </p:sp>
      <p:sp>
        <p:nvSpPr>
          <p:cNvPr id="14" name="Text 11"/>
          <p:cNvSpPr/>
          <p:nvPr/>
        </p:nvSpPr>
        <p:spPr>
          <a:xfrm>
            <a:off x="5623560" y="2871216"/>
            <a:ext cx="3108960" cy="329184"/>
          </a:xfrm>
          <a:prstGeom prst="rect">
            <a:avLst/>
          </a:prstGeom>
          <a:noFill/>
        </p:spPr>
        <p:txBody>
          <a:bodyPr wrap="square" rtlCol="0" anchor="ctr"/>
          <a:lstStyle/>
          <a:p>
            <a:pPr marL="0" indent="0">
              <a:buNone/>
            </a:pPr>
            <a:r>
              <a:rPr lang="en-US" sz="1200" dirty="0">
                <a:solidFill>
                  <a:srgbClr val="E6EDF3"/>
                </a:solidFill>
              </a:rPr>
              <a:t>Ubuntu thinks Kali</a:t>
            </a:r>
            <a:endParaRPr lang="en-US" sz="1200" dirty="0"/>
          </a:p>
        </p:txBody>
      </p:sp>
      <p:sp>
        <p:nvSpPr>
          <p:cNvPr id="15" name="Text 12"/>
          <p:cNvSpPr/>
          <p:nvPr/>
        </p:nvSpPr>
        <p:spPr>
          <a:xfrm>
            <a:off x="5623560" y="3218688"/>
            <a:ext cx="3108960" cy="329184"/>
          </a:xfrm>
          <a:prstGeom prst="rect">
            <a:avLst/>
          </a:prstGeom>
          <a:noFill/>
        </p:spPr>
        <p:txBody>
          <a:bodyPr wrap="square" rtlCol="0" anchor="ctr"/>
          <a:lstStyle/>
          <a:p>
            <a:pPr marL="0" indent="0">
              <a:buNone/>
            </a:pPr>
            <a:r>
              <a:rPr lang="en-US" sz="1200" dirty="0">
                <a:solidFill>
                  <a:srgbClr val="E6EDF3"/>
                </a:solidFill>
              </a:rPr>
              <a:t>is the Gateway!</a:t>
            </a:r>
            <a:endParaRPr lang="en-US" sz="1200" dirty="0"/>
          </a:p>
        </p:txBody>
      </p:sp>
      <p:sp>
        <p:nvSpPr>
          <p:cNvPr id="16" name="Text 13"/>
          <p:cNvSpPr/>
          <p:nvPr/>
        </p:nvSpPr>
        <p:spPr>
          <a:xfrm>
            <a:off x="5623560" y="3566160"/>
            <a:ext cx="3108960" cy="329184"/>
          </a:xfrm>
          <a:prstGeom prst="rect">
            <a:avLst/>
          </a:prstGeom>
          <a:noFill/>
        </p:spPr>
        <p:txBody>
          <a:bodyPr wrap="square" rtlCol="0" anchor="ctr"/>
          <a:lstStyle/>
          <a:p>
            <a:pPr marL="0" indent="0">
              <a:buNone/>
            </a:pPr>
            <a:r>
              <a:rPr lang="en-US" sz="1200" dirty="0">
                <a:solidFill>
                  <a:srgbClr val="8B949E"/>
                </a:solidFill>
              </a:rPr>
              <a:t> </a:t>
            </a:r>
            <a:endParaRPr lang="en-US" sz="1200" dirty="0"/>
          </a:p>
        </p:txBody>
      </p:sp>
      <p:sp>
        <p:nvSpPr>
          <p:cNvPr id="17" name="Text 14"/>
          <p:cNvSpPr/>
          <p:nvPr/>
        </p:nvSpPr>
        <p:spPr>
          <a:xfrm>
            <a:off x="5623560" y="3913632"/>
            <a:ext cx="3108960" cy="329184"/>
          </a:xfrm>
          <a:prstGeom prst="rect">
            <a:avLst/>
          </a:prstGeom>
          <a:noFill/>
        </p:spPr>
        <p:txBody>
          <a:bodyPr wrap="square" rtlCol="0" anchor="ctr"/>
          <a:lstStyle/>
          <a:p>
            <a:pPr marL="0" indent="0">
              <a:buNone/>
            </a:pPr>
            <a:r>
              <a:rPr lang="en-US" sz="1200" dirty="0">
                <a:solidFill>
                  <a:srgbClr val="39D1F5"/>
                </a:solidFill>
              </a:rPr>
              <a:t>All traffic now</a:t>
            </a:r>
            <a:endParaRPr lang="en-US" sz="1200" dirty="0"/>
          </a:p>
        </p:txBody>
      </p:sp>
      <p:sp>
        <p:nvSpPr>
          <p:cNvPr id="18" name="Text 15"/>
          <p:cNvSpPr/>
          <p:nvPr/>
        </p:nvSpPr>
        <p:spPr>
          <a:xfrm>
            <a:off x="5623560" y="4261104"/>
            <a:ext cx="3108960" cy="329184"/>
          </a:xfrm>
          <a:prstGeom prst="rect">
            <a:avLst/>
          </a:prstGeom>
          <a:noFill/>
        </p:spPr>
        <p:txBody>
          <a:bodyPr wrap="square" rtlCol="0" anchor="ctr"/>
          <a:lstStyle/>
          <a:p>
            <a:pPr marL="0" indent="0">
              <a:buNone/>
            </a:pPr>
            <a:r>
              <a:rPr lang="en-US" sz="1200" dirty="0">
                <a:solidFill>
                  <a:srgbClr val="39D1F5"/>
                </a:solidFill>
              </a:rPr>
              <a:t>flows through Kali!</a:t>
            </a:r>
            <a:endParaRPr lang="en-US" sz="1200" dirty="0"/>
          </a:p>
        </p:txBody>
      </p:sp>
      <p:sp>
        <p:nvSpPr>
          <p:cNvPr id="19" name="Shape 16"/>
          <p:cNvSpPr/>
          <p:nvPr/>
        </p:nvSpPr>
        <p:spPr>
          <a:xfrm>
            <a:off x="0" y="5056632"/>
            <a:ext cx="9144000" cy="73152"/>
          </a:xfrm>
          <a:prstGeom prst="rect">
            <a:avLst/>
          </a:prstGeom>
          <a:solidFill>
            <a:srgbClr val="F85149"/>
          </a:solidFill>
          <a:ln w="12700">
            <a:solidFill>
              <a:srgbClr val="F85149"/>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85149"/>
          </a:solidFill>
          <a:ln w="12700">
            <a:solidFill>
              <a:srgbClr val="F85149"/>
            </a:solidFill>
            <a:prstDash val="solid"/>
          </a:ln>
        </p:spPr>
      </p:sp>
      <p:sp>
        <p:nvSpPr>
          <p:cNvPr id="3" name="Text 1"/>
          <p:cNvSpPr/>
          <p:nvPr/>
        </p:nvSpPr>
        <p:spPr>
          <a:xfrm>
            <a:off x="365760" y="137160"/>
            <a:ext cx="8229600" cy="566928"/>
          </a:xfrm>
          <a:prstGeom prst="rect">
            <a:avLst/>
          </a:prstGeom>
          <a:noFill/>
        </p:spPr>
        <p:txBody>
          <a:bodyPr wrap="square" rtlCol="0" anchor="ctr"/>
          <a:lstStyle/>
          <a:p>
            <a:pPr marL="0" indent="0">
              <a:buNone/>
            </a:pPr>
            <a:r>
              <a:rPr lang="en-US" sz="2800" b="1" dirty="0">
                <a:solidFill>
                  <a:srgbClr val="FFFFFF"/>
                </a:solidFill>
              </a:rPr>
              <a:t>Wireshark — Traffic Captured!</a:t>
            </a:r>
            <a:endParaRPr lang="en-US" sz="2800" dirty="0"/>
          </a:p>
        </p:txBody>
      </p:sp>
      <p:sp>
        <p:nvSpPr>
          <p:cNvPr id="4" name="Text 2"/>
          <p:cNvSpPr/>
          <p:nvPr/>
        </p:nvSpPr>
        <p:spPr>
          <a:xfrm>
            <a:off x="365760" y="713232"/>
            <a:ext cx="3657600" cy="256032"/>
          </a:xfrm>
          <a:prstGeom prst="rect">
            <a:avLst/>
          </a:prstGeom>
          <a:noFill/>
        </p:spPr>
        <p:txBody>
          <a:bodyPr wrap="square" rtlCol="0" anchor="ctr"/>
          <a:lstStyle/>
          <a:p>
            <a:pPr marL="0" indent="0">
              <a:buNone/>
            </a:pPr>
            <a:r>
              <a:rPr lang="en-US" sz="1100" b="1" dirty="0">
                <a:solidFill>
                  <a:srgbClr val="F85149"/>
                </a:solidFill>
              </a:rPr>
              <a:t>[ INTERCEPTED TRAFFIC ]</a:t>
            </a:r>
            <a:endParaRPr lang="en-US" sz="1100" dirty="0"/>
          </a:p>
        </p:txBody>
      </p:sp>
      <p:sp>
        <p:nvSpPr>
          <p:cNvPr id="5" name="Shape 3"/>
          <p:cNvSpPr/>
          <p:nvPr/>
        </p:nvSpPr>
        <p:spPr>
          <a:xfrm>
            <a:off x="274320" y="1005840"/>
            <a:ext cx="5029200" cy="1920240"/>
          </a:xfrm>
          <a:prstGeom prst="rect">
            <a:avLst/>
          </a:prstGeom>
          <a:solidFill>
            <a:srgbClr val="0D2137"/>
          </a:solidFill>
          <a:ln w="25400">
            <a:solidFill>
              <a:srgbClr val="F85149"/>
            </a:solidFill>
            <a:prstDash val="solid"/>
          </a:ln>
          <a:effectLst>
            <a:outerShdw blurRad="101600" dist="38100" dir="8100000" algn="bl" rotWithShape="0">
              <a:srgbClr val="000000">
                <a:alpha val="30000"/>
              </a:srgbClr>
            </a:outerShdw>
          </a:effectLst>
        </p:spPr>
      </p:sp>
      <p:sp>
        <p:nvSpPr>
          <p:cNvPr id="6" name="Text 4"/>
          <p:cNvSpPr/>
          <p:nvPr/>
        </p:nvSpPr>
        <p:spPr>
          <a:xfrm>
            <a:off x="320040" y="1033272"/>
            <a:ext cx="4937760" cy="274320"/>
          </a:xfrm>
          <a:prstGeom prst="rect">
            <a:avLst/>
          </a:prstGeom>
          <a:noFill/>
        </p:spPr>
        <p:txBody>
          <a:bodyPr wrap="square" rtlCol="0" anchor="ctr"/>
          <a:lstStyle/>
          <a:p>
            <a:pPr marL="0" indent="0">
              <a:buNone/>
            </a:pPr>
            <a:r>
              <a:rPr lang="en-US" sz="1000" b="1" dirty="0">
                <a:solidFill>
                  <a:srgbClr val="F85149"/>
                </a:solidFill>
              </a:rPr>
              <a:t>HTTP Traffic Captured — Filter: http</a:t>
            </a:r>
            <a:endParaRPr lang="en-US" sz="1000" dirty="0"/>
          </a:p>
        </p:txBody>
      </p:sp>
      <p:pic>
        <p:nvPicPr>
          <p:cNvPr id="7" name="Image 0" descr="preencoded.png"/>
          <p:cNvPicPr>
            <a:picLocks noChangeAspect="1"/>
          </p:cNvPicPr>
          <p:nvPr/>
        </p:nvPicPr>
        <p:blipFill>
          <a:blip r:embed="rId1"/>
          <a:stretch>
            <a:fillRect/>
          </a:stretch>
        </p:blipFill>
        <p:spPr>
          <a:xfrm>
            <a:off x="320040" y="1325880"/>
            <a:ext cx="4937760" cy="1554480"/>
          </a:xfrm>
          <a:prstGeom prst="rect">
            <a:avLst/>
          </a:prstGeom>
        </p:spPr>
      </p:pic>
      <p:sp>
        <p:nvSpPr>
          <p:cNvPr id="8" name="Shape 5"/>
          <p:cNvSpPr/>
          <p:nvPr/>
        </p:nvSpPr>
        <p:spPr>
          <a:xfrm>
            <a:off x="274320" y="2971800"/>
            <a:ext cx="5029200" cy="1783080"/>
          </a:xfrm>
          <a:prstGeom prst="rect">
            <a:avLst/>
          </a:prstGeom>
          <a:solidFill>
            <a:srgbClr val="0D2137"/>
          </a:solidFill>
          <a:ln w="12700">
            <a:solidFill>
              <a:srgbClr val="39D1F5"/>
            </a:solidFill>
            <a:prstDash val="solid"/>
          </a:ln>
          <a:effectLst>
            <a:outerShdw blurRad="101600" dist="38100" dir="8100000" algn="bl" rotWithShape="0">
              <a:srgbClr val="000000">
                <a:alpha val="30000"/>
              </a:srgbClr>
            </a:outerShdw>
          </a:effectLst>
        </p:spPr>
      </p:sp>
      <p:sp>
        <p:nvSpPr>
          <p:cNvPr id="9" name="Text 6"/>
          <p:cNvSpPr/>
          <p:nvPr/>
        </p:nvSpPr>
        <p:spPr>
          <a:xfrm>
            <a:off x="320040" y="2999232"/>
            <a:ext cx="4937760" cy="274320"/>
          </a:xfrm>
          <a:prstGeom prst="rect">
            <a:avLst/>
          </a:prstGeom>
          <a:noFill/>
        </p:spPr>
        <p:txBody>
          <a:bodyPr wrap="square" rtlCol="0" anchor="ctr"/>
          <a:lstStyle/>
          <a:p>
            <a:pPr marL="0" indent="0">
              <a:buNone/>
            </a:pPr>
            <a:r>
              <a:rPr lang="en-US" sz="1000" b="1" dirty="0">
                <a:solidFill>
                  <a:srgbClr val="39D1F5"/>
                </a:solidFill>
              </a:rPr>
              <a:t>HTTP Packet Details — Visible Headers!</a:t>
            </a:r>
            <a:endParaRPr lang="en-US" sz="1000" dirty="0"/>
          </a:p>
        </p:txBody>
      </p:sp>
      <p:pic>
        <p:nvPicPr>
          <p:cNvPr id="10" name="Image 1" descr="preencoded.png"/>
          <p:cNvPicPr>
            <a:picLocks noChangeAspect="1"/>
          </p:cNvPicPr>
          <p:nvPr/>
        </p:nvPicPr>
        <p:blipFill>
          <a:blip r:embed="rId2"/>
          <a:stretch>
            <a:fillRect/>
          </a:stretch>
        </p:blipFill>
        <p:spPr>
          <a:xfrm>
            <a:off x="320040" y="3291840"/>
            <a:ext cx="4937760" cy="1417320"/>
          </a:xfrm>
          <a:prstGeom prst="rect">
            <a:avLst/>
          </a:prstGeom>
        </p:spPr>
      </p:pic>
      <p:sp>
        <p:nvSpPr>
          <p:cNvPr id="11" name="Shape 7"/>
          <p:cNvSpPr/>
          <p:nvPr/>
        </p:nvSpPr>
        <p:spPr>
          <a:xfrm>
            <a:off x="5486400" y="1005840"/>
            <a:ext cx="3383280" cy="3749040"/>
          </a:xfrm>
          <a:prstGeom prst="rect">
            <a:avLst/>
          </a:prstGeom>
          <a:solidFill>
            <a:srgbClr val="0D2137"/>
          </a:solidFill>
          <a:ln w="12700">
            <a:solidFill>
              <a:srgbClr val="3FB950"/>
            </a:solidFill>
            <a:prstDash val="solid"/>
          </a:ln>
          <a:effectLst>
            <a:outerShdw blurRad="101600" dist="38100" dir="8100000" algn="bl" rotWithShape="0">
              <a:srgbClr val="000000">
                <a:alpha val="30000"/>
              </a:srgbClr>
            </a:outerShdw>
          </a:effectLst>
        </p:spPr>
      </p:sp>
      <p:sp>
        <p:nvSpPr>
          <p:cNvPr id="12" name="Text 8"/>
          <p:cNvSpPr/>
          <p:nvPr/>
        </p:nvSpPr>
        <p:spPr>
          <a:xfrm>
            <a:off x="5532120" y="1033272"/>
            <a:ext cx="3291840" cy="274320"/>
          </a:xfrm>
          <a:prstGeom prst="rect">
            <a:avLst/>
          </a:prstGeom>
          <a:noFill/>
        </p:spPr>
        <p:txBody>
          <a:bodyPr wrap="square" rtlCol="0" anchor="ctr"/>
          <a:lstStyle/>
          <a:p>
            <a:pPr marL="0" indent="0">
              <a:buNone/>
            </a:pPr>
            <a:r>
              <a:rPr lang="en-US" sz="1000" b="1" dirty="0">
                <a:solidFill>
                  <a:srgbClr val="3FB950"/>
                </a:solidFill>
              </a:rPr>
              <a:t>ARP Filter — Poison Packets!</a:t>
            </a:r>
            <a:endParaRPr lang="en-US" sz="1000" dirty="0"/>
          </a:p>
        </p:txBody>
      </p:sp>
      <p:pic>
        <p:nvPicPr>
          <p:cNvPr id="13" name="Image 2" descr="preencoded.png"/>
          <p:cNvPicPr>
            <a:picLocks noChangeAspect="1"/>
          </p:cNvPicPr>
          <p:nvPr/>
        </p:nvPicPr>
        <p:blipFill>
          <a:blip r:embed="rId3"/>
          <a:stretch>
            <a:fillRect/>
          </a:stretch>
        </p:blipFill>
        <p:spPr>
          <a:xfrm>
            <a:off x="5532120" y="1325880"/>
            <a:ext cx="3291840" cy="3383280"/>
          </a:xfrm>
          <a:prstGeom prst="rect">
            <a:avLst/>
          </a:prstGeom>
        </p:spPr>
      </p:pic>
      <p:sp>
        <p:nvSpPr>
          <p:cNvPr id="14" name="Shape 9"/>
          <p:cNvSpPr/>
          <p:nvPr/>
        </p:nvSpPr>
        <p:spPr>
          <a:xfrm>
            <a:off x="0" y="5056632"/>
            <a:ext cx="9144000" cy="73152"/>
          </a:xfrm>
          <a:prstGeom prst="rect">
            <a:avLst/>
          </a:prstGeom>
          <a:solidFill>
            <a:srgbClr val="F85149"/>
          </a:solidFill>
          <a:ln w="12700">
            <a:solidFill>
              <a:srgbClr val="F85149"/>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FB950"/>
          </a:solidFill>
          <a:ln w="12700">
            <a:solidFill>
              <a:srgbClr val="3FB950"/>
            </a:solidFill>
            <a:prstDash val="solid"/>
          </a:ln>
        </p:spPr>
      </p:sp>
      <p:sp>
        <p:nvSpPr>
          <p:cNvPr id="3" name="Text 1"/>
          <p:cNvSpPr/>
          <p:nvPr/>
        </p:nvSpPr>
        <p:spPr>
          <a:xfrm>
            <a:off x="365760" y="137160"/>
            <a:ext cx="8229600" cy="566928"/>
          </a:xfrm>
          <a:prstGeom prst="rect">
            <a:avLst/>
          </a:prstGeom>
          <a:noFill/>
        </p:spPr>
        <p:txBody>
          <a:bodyPr wrap="square" rtlCol="0" anchor="ctr"/>
          <a:lstStyle/>
          <a:p>
            <a:pPr marL="0" indent="0">
              <a:buNone/>
            </a:pPr>
            <a:r>
              <a:rPr lang="en-US" sz="2800" b="1" dirty="0">
                <a:solidFill>
                  <a:srgbClr val="FFFFFF"/>
                </a:solidFill>
              </a:rPr>
              <a:t>Defense &amp; Detection</a:t>
            </a:r>
            <a:endParaRPr lang="en-US" sz="2800" dirty="0"/>
          </a:p>
        </p:txBody>
      </p:sp>
      <p:sp>
        <p:nvSpPr>
          <p:cNvPr id="4" name="Text 2"/>
          <p:cNvSpPr/>
          <p:nvPr/>
        </p:nvSpPr>
        <p:spPr>
          <a:xfrm>
            <a:off x="365760" y="713232"/>
            <a:ext cx="2743200" cy="256032"/>
          </a:xfrm>
          <a:prstGeom prst="rect">
            <a:avLst/>
          </a:prstGeom>
          <a:noFill/>
        </p:spPr>
        <p:txBody>
          <a:bodyPr wrap="square" rtlCol="0" anchor="ctr"/>
          <a:lstStyle/>
          <a:p>
            <a:pPr marL="0" indent="0">
              <a:buNone/>
            </a:pPr>
            <a:r>
              <a:rPr lang="en-US" sz="1100" b="1" dirty="0">
                <a:solidFill>
                  <a:srgbClr val="3FB950"/>
                </a:solidFill>
              </a:rPr>
              <a:t>[ BLUE TEAM PHASE ]</a:t>
            </a:r>
            <a:endParaRPr lang="en-US" sz="1100" dirty="0"/>
          </a:p>
        </p:txBody>
      </p:sp>
      <p:sp>
        <p:nvSpPr>
          <p:cNvPr id="5" name="Shape 3"/>
          <p:cNvSpPr/>
          <p:nvPr/>
        </p:nvSpPr>
        <p:spPr>
          <a:xfrm>
            <a:off x="274320" y="1005840"/>
            <a:ext cx="4114800" cy="3657600"/>
          </a:xfrm>
          <a:prstGeom prst="rect">
            <a:avLst/>
          </a:prstGeom>
          <a:solidFill>
            <a:srgbClr val="0D2137"/>
          </a:solidFill>
          <a:ln w="12700">
            <a:solidFill>
              <a:srgbClr val="3FB950"/>
            </a:solidFill>
            <a:prstDash val="solid"/>
          </a:ln>
          <a:effectLst>
            <a:outerShdw blurRad="101600" dist="38100" dir="8100000" algn="bl" rotWithShape="0">
              <a:srgbClr val="000000">
                <a:alpha val="30000"/>
              </a:srgbClr>
            </a:outerShdw>
          </a:effectLst>
        </p:spPr>
      </p:sp>
      <p:sp>
        <p:nvSpPr>
          <p:cNvPr id="6" name="Text 4"/>
          <p:cNvSpPr/>
          <p:nvPr/>
        </p:nvSpPr>
        <p:spPr>
          <a:xfrm>
            <a:off x="457200" y="1097280"/>
            <a:ext cx="3749040" cy="347472"/>
          </a:xfrm>
          <a:prstGeom prst="rect">
            <a:avLst/>
          </a:prstGeom>
          <a:noFill/>
        </p:spPr>
        <p:txBody>
          <a:bodyPr wrap="square" rtlCol="0" anchor="ctr"/>
          <a:lstStyle/>
          <a:p>
            <a:pPr marL="0" indent="0">
              <a:buNone/>
            </a:pPr>
            <a:r>
              <a:rPr lang="en-US" sz="1400" b="1" dirty="0">
                <a:solidFill>
                  <a:srgbClr val="3FB950"/>
                </a:solidFill>
                <a:latin typeface="Consolas" panose="020B0609020204030204" pitchFamily="34" charset="0"/>
                <a:ea typeface="Consolas" panose="020B0609020204030204" pitchFamily="34" charset="-122"/>
                <a:cs typeface="Consolas" panose="020B0609020204030204" pitchFamily="34" charset="-120"/>
              </a:rPr>
              <a:t>arp_detect.py</a:t>
            </a:r>
            <a:endParaRPr lang="en-US" sz="1400" dirty="0"/>
          </a:p>
        </p:txBody>
      </p:sp>
      <p:sp>
        <p:nvSpPr>
          <p:cNvPr id="7" name="Text 5"/>
          <p:cNvSpPr/>
          <p:nvPr/>
        </p:nvSpPr>
        <p:spPr>
          <a:xfrm>
            <a:off x="457200" y="1508760"/>
            <a:ext cx="3749040" cy="2971800"/>
          </a:xfrm>
          <a:prstGeom prst="rect">
            <a:avLst/>
          </a:prstGeom>
          <a:noFill/>
        </p:spPr>
        <p:txBody>
          <a:bodyPr wrap="square" rtlCol="0" anchor="t"/>
          <a:lstStyle/>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Python + Scapy Detection:</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Monitors all ARP packets</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Checks MAC vs known table</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Alerts on MAC mismatch</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Saves log to file</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sudo python3 arp_detect.py</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 </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OUTPUT:</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[ALERT] ARP SPOOFING</a:t>
            </a:r>
            <a:endParaRPr lang="en-US" sz="1200" dirty="0"/>
          </a:p>
          <a:p>
            <a:pPr marL="0" indent="0">
              <a:buNone/>
            </a:pPr>
            <a:r>
              <a:rPr lang="en-US" sz="1200" dirty="0">
                <a:solidFill>
                  <a:srgbClr val="E6EDF3"/>
                </a:solidFill>
                <a:latin typeface="Consolas" panose="020B0609020204030204" pitchFamily="34" charset="0"/>
                <a:ea typeface="Consolas" panose="020B0609020204030204" pitchFamily="34" charset="-122"/>
                <a:cs typeface="Consolas" panose="020B0609020204030204" pitchFamily="34" charset="-120"/>
              </a:rPr>
              <a:t>DETECTED!</a:t>
            </a:r>
            <a:endParaRPr lang="en-US" sz="1200" dirty="0"/>
          </a:p>
        </p:txBody>
      </p:sp>
      <p:sp>
        <p:nvSpPr>
          <p:cNvPr id="8" name="Shape 6"/>
          <p:cNvSpPr/>
          <p:nvPr/>
        </p:nvSpPr>
        <p:spPr>
          <a:xfrm>
            <a:off x="4754880" y="1005840"/>
            <a:ext cx="4114800" cy="3657600"/>
          </a:xfrm>
          <a:prstGeom prst="rect">
            <a:avLst/>
          </a:prstGeom>
          <a:solidFill>
            <a:srgbClr val="0D2137"/>
          </a:solidFill>
          <a:ln w="12700">
            <a:solidFill>
              <a:srgbClr val="39D1F5"/>
            </a:solidFill>
            <a:prstDash val="solid"/>
          </a:ln>
          <a:effectLst>
            <a:outerShdw blurRad="101600" dist="38100" dir="8100000" algn="bl" rotWithShape="0">
              <a:srgbClr val="000000">
                <a:alpha val="30000"/>
              </a:srgbClr>
            </a:outerShdw>
          </a:effectLst>
        </p:spPr>
      </p:sp>
      <p:sp>
        <p:nvSpPr>
          <p:cNvPr id="9" name="Text 7"/>
          <p:cNvSpPr/>
          <p:nvPr/>
        </p:nvSpPr>
        <p:spPr>
          <a:xfrm>
            <a:off x="4937760" y="1097280"/>
            <a:ext cx="3749040" cy="347472"/>
          </a:xfrm>
          <a:prstGeom prst="rect">
            <a:avLst/>
          </a:prstGeom>
          <a:noFill/>
        </p:spPr>
        <p:txBody>
          <a:bodyPr wrap="square" rtlCol="0" anchor="ctr"/>
          <a:lstStyle/>
          <a:p>
            <a:pPr marL="0" indent="0">
              <a:buNone/>
            </a:pPr>
            <a:r>
              <a:rPr lang="en-US" sz="1400" b="1" dirty="0">
                <a:solidFill>
                  <a:srgbClr val="39D1F5"/>
                </a:solidFill>
              </a:rPr>
              <a:t>Countermeasures</a:t>
            </a:r>
            <a:endParaRPr lang="en-US" sz="1400" dirty="0"/>
          </a:p>
        </p:txBody>
      </p:sp>
      <p:sp>
        <p:nvSpPr>
          <p:cNvPr id="10" name="Shape 8"/>
          <p:cNvSpPr/>
          <p:nvPr/>
        </p:nvSpPr>
        <p:spPr>
          <a:xfrm>
            <a:off x="4937760" y="1554480"/>
            <a:ext cx="1005840" cy="329184"/>
          </a:xfrm>
          <a:prstGeom prst="rect">
            <a:avLst/>
          </a:prstGeom>
          <a:solidFill>
            <a:srgbClr val="1F6FEB">
              <a:alpha val="80000"/>
            </a:srgbClr>
          </a:solidFill>
          <a:ln w="12700">
            <a:solidFill>
              <a:srgbClr val="1F6FEB"/>
            </a:solidFill>
            <a:prstDash val="solid"/>
          </a:ln>
        </p:spPr>
      </p:sp>
      <p:sp>
        <p:nvSpPr>
          <p:cNvPr id="11" name="Text 9"/>
          <p:cNvSpPr/>
          <p:nvPr/>
        </p:nvSpPr>
        <p:spPr>
          <a:xfrm>
            <a:off x="4937760" y="1554480"/>
            <a:ext cx="1005840" cy="329184"/>
          </a:xfrm>
          <a:prstGeom prst="rect">
            <a:avLst/>
          </a:prstGeom>
          <a:noFill/>
        </p:spPr>
        <p:txBody>
          <a:bodyPr wrap="square" rtlCol="0" anchor="ctr"/>
          <a:lstStyle/>
          <a:p>
            <a:pPr marL="0" indent="0" algn="ctr">
              <a:buNone/>
            </a:pPr>
            <a:r>
              <a:rPr lang="en-US" sz="1100" b="1" dirty="0">
                <a:solidFill>
                  <a:srgbClr val="FFFFFF"/>
                </a:solidFill>
              </a:rPr>
              <a:t>VPN</a:t>
            </a:r>
            <a:endParaRPr lang="en-US" sz="1100" dirty="0"/>
          </a:p>
        </p:txBody>
      </p:sp>
      <p:sp>
        <p:nvSpPr>
          <p:cNvPr id="12" name="Text 10"/>
          <p:cNvSpPr/>
          <p:nvPr/>
        </p:nvSpPr>
        <p:spPr>
          <a:xfrm>
            <a:off x="6016752" y="1572768"/>
            <a:ext cx="2651760" cy="301752"/>
          </a:xfrm>
          <a:prstGeom prst="rect">
            <a:avLst/>
          </a:prstGeom>
          <a:noFill/>
        </p:spPr>
        <p:txBody>
          <a:bodyPr wrap="square" rtlCol="0" anchor="ctr"/>
          <a:lstStyle/>
          <a:p>
            <a:pPr marL="0" indent="0">
              <a:buNone/>
            </a:pPr>
            <a:r>
              <a:rPr lang="en-US" sz="1100" dirty="0">
                <a:solidFill>
                  <a:srgbClr val="E6EDF3"/>
                </a:solidFill>
              </a:rPr>
              <a:t>Encrypt all traffic</a:t>
            </a:r>
            <a:endParaRPr lang="en-US" sz="1100" dirty="0"/>
          </a:p>
        </p:txBody>
      </p:sp>
      <p:sp>
        <p:nvSpPr>
          <p:cNvPr id="13" name="Shape 11"/>
          <p:cNvSpPr/>
          <p:nvPr/>
        </p:nvSpPr>
        <p:spPr>
          <a:xfrm>
            <a:off x="4937760" y="2029968"/>
            <a:ext cx="1005840" cy="329184"/>
          </a:xfrm>
          <a:prstGeom prst="rect">
            <a:avLst/>
          </a:prstGeom>
          <a:solidFill>
            <a:srgbClr val="1F6FEB">
              <a:alpha val="80000"/>
            </a:srgbClr>
          </a:solidFill>
          <a:ln w="12700">
            <a:solidFill>
              <a:srgbClr val="1F6FEB"/>
            </a:solidFill>
            <a:prstDash val="solid"/>
          </a:ln>
        </p:spPr>
      </p:sp>
      <p:sp>
        <p:nvSpPr>
          <p:cNvPr id="14" name="Text 12"/>
          <p:cNvSpPr/>
          <p:nvPr/>
        </p:nvSpPr>
        <p:spPr>
          <a:xfrm>
            <a:off x="4937760" y="2029968"/>
            <a:ext cx="1005840" cy="329184"/>
          </a:xfrm>
          <a:prstGeom prst="rect">
            <a:avLst/>
          </a:prstGeom>
          <a:noFill/>
        </p:spPr>
        <p:txBody>
          <a:bodyPr wrap="square" rtlCol="0" anchor="ctr"/>
          <a:lstStyle/>
          <a:p>
            <a:pPr marL="0" indent="0" algn="ctr">
              <a:buNone/>
            </a:pPr>
            <a:r>
              <a:rPr lang="en-US" sz="1100" b="1" dirty="0">
                <a:solidFill>
                  <a:srgbClr val="FFFFFF"/>
                </a:solidFill>
              </a:rPr>
              <a:t>HTTPS</a:t>
            </a:r>
            <a:endParaRPr lang="en-US" sz="1100" dirty="0"/>
          </a:p>
        </p:txBody>
      </p:sp>
      <p:sp>
        <p:nvSpPr>
          <p:cNvPr id="15" name="Text 13"/>
          <p:cNvSpPr/>
          <p:nvPr/>
        </p:nvSpPr>
        <p:spPr>
          <a:xfrm>
            <a:off x="6016752" y="2048256"/>
            <a:ext cx="2651760" cy="301752"/>
          </a:xfrm>
          <a:prstGeom prst="rect">
            <a:avLst/>
          </a:prstGeom>
          <a:noFill/>
        </p:spPr>
        <p:txBody>
          <a:bodyPr wrap="square" rtlCol="0" anchor="ctr"/>
          <a:lstStyle/>
          <a:p>
            <a:pPr marL="0" indent="0">
              <a:buNone/>
            </a:pPr>
            <a:r>
              <a:rPr lang="en-US" sz="1100" dirty="0">
                <a:solidFill>
                  <a:srgbClr val="E6EDF3"/>
                </a:solidFill>
              </a:rPr>
              <a:t>SSL/TLS only</a:t>
            </a:r>
            <a:endParaRPr lang="en-US" sz="1100" dirty="0"/>
          </a:p>
        </p:txBody>
      </p:sp>
      <p:sp>
        <p:nvSpPr>
          <p:cNvPr id="16" name="Shape 14"/>
          <p:cNvSpPr/>
          <p:nvPr/>
        </p:nvSpPr>
        <p:spPr>
          <a:xfrm>
            <a:off x="4937760" y="2505456"/>
            <a:ext cx="1005840" cy="329184"/>
          </a:xfrm>
          <a:prstGeom prst="rect">
            <a:avLst/>
          </a:prstGeom>
          <a:solidFill>
            <a:srgbClr val="1F6FEB">
              <a:alpha val="80000"/>
            </a:srgbClr>
          </a:solidFill>
          <a:ln w="12700">
            <a:solidFill>
              <a:srgbClr val="1F6FEB"/>
            </a:solidFill>
            <a:prstDash val="solid"/>
          </a:ln>
        </p:spPr>
      </p:sp>
      <p:sp>
        <p:nvSpPr>
          <p:cNvPr id="17" name="Text 15"/>
          <p:cNvSpPr/>
          <p:nvPr/>
        </p:nvSpPr>
        <p:spPr>
          <a:xfrm>
            <a:off x="4937760" y="2505456"/>
            <a:ext cx="1005840" cy="329184"/>
          </a:xfrm>
          <a:prstGeom prst="rect">
            <a:avLst/>
          </a:prstGeom>
          <a:noFill/>
        </p:spPr>
        <p:txBody>
          <a:bodyPr wrap="square" rtlCol="0" anchor="ctr"/>
          <a:lstStyle/>
          <a:p>
            <a:pPr marL="0" indent="0" algn="ctr">
              <a:buNone/>
            </a:pPr>
            <a:r>
              <a:rPr lang="en-US" sz="1100" b="1" dirty="0">
                <a:solidFill>
                  <a:srgbClr val="FFFFFF"/>
                </a:solidFill>
              </a:rPr>
              <a:t>Static ARP</a:t>
            </a:r>
            <a:endParaRPr lang="en-US" sz="1100" dirty="0"/>
          </a:p>
        </p:txBody>
      </p:sp>
      <p:sp>
        <p:nvSpPr>
          <p:cNvPr id="18" name="Text 16"/>
          <p:cNvSpPr/>
          <p:nvPr/>
        </p:nvSpPr>
        <p:spPr>
          <a:xfrm>
            <a:off x="6016752" y="2523744"/>
            <a:ext cx="2651760" cy="301752"/>
          </a:xfrm>
          <a:prstGeom prst="rect">
            <a:avLst/>
          </a:prstGeom>
          <a:noFill/>
        </p:spPr>
        <p:txBody>
          <a:bodyPr wrap="square" rtlCol="0" anchor="ctr"/>
          <a:lstStyle/>
          <a:p>
            <a:pPr marL="0" indent="0">
              <a:buNone/>
            </a:pPr>
            <a:r>
              <a:rPr lang="en-US" sz="1100" dirty="0">
                <a:solidFill>
                  <a:srgbClr val="E6EDF3"/>
                </a:solidFill>
              </a:rPr>
              <a:t>Fix MAC entries</a:t>
            </a:r>
            <a:endParaRPr lang="en-US" sz="1100" dirty="0"/>
          </a:p>
        </p:txBody>
      </p:sp>
      <p:sp>
        <p:nvSpPr>
          <p:cNvPr id="19" name="Shape 17"/>
          <p:cNvSpPr/>
          <p:nvPr/>
        </p:nvSpPr>
        <p:spPr>
          <a:xfrm>
            <a:off x="4937760" y="2980944"/>
            <a:ext cx="1005840" cy="329184"/>
          </a:xfrm>
          <a:prstGeom prst="rect">
            <a:avLst/>
          </a:prstGeom>
          <a:solidFill>
            <a:srgbClr val="1F6FEB">
              <a:alpha val="80000"/>
            </a:srgbClr>
          </a:solidFill>
          <a:ln w="12700">
            <a:solidFill>
              <a:srgbClr val="1F6FEB"/>
            </a:solidFill>
            <a:prstDash val="solid"/>
          </a:ln>
        </p:spPr>
      </p:sp>
      <p:sp>
        <p:nvSpPr>
          <p:cNvPr id="20" name="Text 18"/>
          <p:cNvSpPr/>
          <p:nvPr/>
        </p:nvSpPr>
        <p:spPr>
          <a:xfrm>
            <a:off x="4937760" y="2980944"/>
            <a:ext cx="1005840" cy="329184"/>
          </a:xfrm>
          <a:prstGeom prst="rect">
            <a:avLst/>
          </a:prstGeom>
          <a:noFill/>
        </p:spPr>
        <p:txBody>
          <a:bodyPr wrap="square" rtlCol="0" anchor="ctr"/>
          <a:lstStyle/>
          <a:p>
            <a:pPr marL="0" indent="0" algn="ctr">
              <a:buNone/>
            </a:pPr>
            <a:r>
              <a:rPr lang="en-US" sz="1100" b="1" dirty="0">
                <a:solidFill>
                  <a:srgbClr val="FFFFFF"/>
                </a:solidFill>
              </a:rPr>
              <a:t>2FA</a:t>
            </a:r>
            <a:endParaRPr lang="en-US" sz="1100" dirty="0"/>
          </a:p>
        </p:txBody>
      </p:sp>
      <p:sp>
        <p:nvSpPr>
          <p:cNvPr id="21" name="Text 19"/>
          <p:cNvSpPr/>
          <p:nvPr/>
        </p:nvSpPr>
        <p:spPr>
          <a:xfrm>
            <a:off x="6016752" y="2999232"/>
            <a:ext cx="2651760" cy="301752"/>
          </a:xfrm>
          <a:prstGeom prst="rect">
            <a:avLst/>
          </a:prstGeom>
          <a:noFill/>
        </p:spPr>
        <p:txBody>
          <a:bodyPr wrap="square" rtlCol="0" anchor="ctr"/>
          <a:lstStyle/>
          <a:p>
            <a:pPr marL="0" indent="0">
              <a:buNone/>
            </a:pPr>
            <a:r>
              <a:rPr lang="en-US" sz="1100" dirty="0">
                <a:solidFill>
                  <a:srgbClr val="E6EDF3"/>
                </a:solidFill>
              </a:rPr>
              <a:t>Account protection</a:t>
            </a:r>
            <a:endParaRPr lang="en-US" sz="1100" dirty="0"/>
          </a:p>
        </p:txBody>
      </p:sp>
      <p:sp>
        <p:nvSpPr>
          <p:cNvPr id="22" name="Shape 20"/>
          <p:cNvSpPr/>
          <p:nvPr/>
        </p:nvSpPr>
        <p:spPr>
          <a:xfrm>
            <a:off x="4937760" y="3456432"/>
            <a:ext cx="1005840" cy="329184"/>
          </a:xfrm>
          <a:prstGeom prst="rect">
            <a:avLst/>
          </a:prstGeom>
          <a:solidFill>
            <a:srgbClr val="1F6FEB">
              <a:alpha val="80000"/>
            </a:srgbClr>
          </a:solidFill>
          <a:ln w="12700">
            <a:solidFill>
              <a:srgbClr val="1F6FEB"/>
            </a:solidFill>
            <a:prstDash val="solid"/>
          </a:ln>
        </p:spPr>
      </p:sp>
      <p:sp>
        <p:nvSpPr>
          <p:cNvPr id="23" name="Text 21"/>
          <p:cNvSpPr/>
          <p:nvPr/>
        </p:nvSpPr>
        <p:spPr>
          <a:xfrm>
            <a:off x="4937760" y="3456432"/>
            <a:ext cx="1005840" cy="329184"/>
          </a:xfrm>
          <a:prstGeom prst="rect">
            <a:avLst/>
          </a:prstGeom>
          <a:noFill/>
        </p:spPr>
        <p:txBody>
          <a:bodyPr wrap="square" rtlCol="0" anchor="ctr"/>
          <a:lstStyle/>
          <a:p>
            <a:pPr marL="0" indent="0" algn="ctr">
              <a:buNone/>
            </a:pPr>
            <a:r>
              <a:rPr lang="en-US" sz="1100" b="1" dirty="0">
                <a:solidFill>
                  <a:srgbClr val="FFFFFF"/>
                </a:solidFill>
              </a:rPr>
              <a:t>DAI</a:t>
            </a:r>
            <a:endParaRPr lang="en-US" sz="1100" dirty="0"/>
          </a:p>
        </p:txBody>
      </p:sp>
      <p:sp>
        <p:nvSpPr>
          <p:cNvPr id="24" name="Text 22"/>
          <p:cNvSpPr/>
          <p:nvPr/>
        </p:nvSpPr>
        <p:spPr>
          <a:xfrm>
            <a:off x="6016752" y="3474720"/>
            <a:ext cx="2651760" cy="301752"/>
          </a:xfrm>
          <a:prstGeom prst="rect">
            <a:avLst/>
          </a:prstGeom>
          <a:noFill/>
        </p:spPr>
        <p:txBody>
          <a:bodyPr wrap="square" rtlCol="0" anchor="ctr"/>
          <a:lstStyle/>
          <a:p>
            <a:pPr marL="0" indent="0">
              <a:buNone/>
            </a:pPr>
            <a:r>
              <a:rPr lang="en-US" sz="1100" dirty="0">
                <a:solidFill>
                  <a:srgbClr val="E6EDF3"/>
                </a:solidFill>
              </a:rPr>
              <a:t>Switch-level defense</a:t>
            </a:r>
            <a:endParaRPr lang="en-US" sz="1100" dirty="0"/>
          </a:p>
        </p:txBody>
      </p:sp>
      <p:sp>
        <p:nvSpPr>
          <p:cNvPr id="25" name="Shape 23"/>
          <p:cNvSpPr/>
          <p:nvPr/>
        </p:nvSpPr>
        <p:spPr>
          <a:xfrm>
            <a:off x="4937760" y="3931920"/>
            <a:ext cx="1005840" cy="329184"/>
          </a:xfrm>
          <a:prstGeom prst="rect">
            <a:avLst/>
          </a:prstGeom>
          <a:solidFill>
            <a:srgbClr val="1F6FEB">
              <a:alpha val="80000"/>
            </a:srgbClr>
          </a:solidFill>
          <a:ln w="12700">
            <a:solidFill>
              <a:srgbClr val="1F6FEB"/>
            </a:solidFill>
            <a:prstDash val="solid"/>
          </a:ln>
        </p:spPr>
      </p:sp>
      <p:sp>
        <p:nvSpPr>
          <p:cNvPr id="26" name="Text 24"/>
          <p:cNvSpPr/>
          <p:nvPr/>
        </p:nvSpPr>
        <p:spPr>
          <a:xfrm>
            <a:off x="4937760" y="3931920"/>
            <a:ext cx="1005840" cy="329184"/>
          </a:xfrm>
          <a:prstGeom prst="rect">
            <a:avLst/>
          </a:prstGeom>
          <a:noFill/>
        </p:spPr>
        <p:txBody>
          <a:bodyPr wrap="square" rtlCol="0" anchor="ctr"/>
          <a:lstStyle/>
          <a:p>
            <a:pPr marL="0" indent="0" algn="ctr">
              <a:buNone/>
            </a:pPr>
            <a:r>
              <a:rPr lang="en-US" sz="1100" b="1" dirty="0">
                <a:solidFill>
                  <a:srgbClr val="FFFFFF"/>
                </a:solidFill>
              </a:rPr>
              <a:t>Monitor</a:t>
            </a:r>
            <a:endParaRPr lang="en-US" sz="1100" dirty="0"/>
          </a:p>
        </p:txBody>
      </p:sp>
      <p:sp>
        <p:nvSpPr>
          <p:cNvPr id="27" name="Text 25"/>
          <p:cNvSpPr/>
          <p:nvPr/>
        </p:nvSpPr>
        <p:spPr>
          <a:xfrm>
            <a:off x="6016752" y="3950208"/>
            <a:ext cx="2651760" cy="301752"/>
          </a:xfrm>
          <a:prstGeom prst="rect">
            <a:avLst/>
          </a:prstGeom>
          <a:noFill/>
        </p:spPr>
        <p:txBody>
          <a:bodyPr wrap="square" rtlCol="0" anchor="ctr"/>
          <a:lstStyle/>
          <a:p>
            <a:pPr marL="0" indent="0">
              <a:buNone/>
            </a:pPr>
            <a:r>
              <a:rPr lang="en-US" sz="1100" dirty="0">
                <a:solidFill>
                  <a:srgbClr val="E6EDF3"/>
                </a:solidFill>
              </a:rPr>
              <a:t>ARP anomaly alerts</a:t>
            </a:r>
            <a:endParaRPr lang="en-US" sz="1100" dirty="0"/>
          </a:p>
        </p:txBody>
      </p:sp>
      <p:sp>
        <p:nvSpPr>
          <p:cNvPr id="28" name="Shape 26"/>
          <p:cNvSpPr/>
          <p:nvPr/>
        </p:nvSpPr>
        <p:spPr>
          <a:xfrm>
            <a:off x="0" y="5056632"/>
            <a:ext cx="9144000" cy="73152"/>
          </a:xfrm>
          <a:prstGeom prst="rect">
            <a:avLst/>
          </a:prstGeom>
          <a:solidFill>
            <a:srgbClr val="3FB950"/>
          </a:solidFill>
          <a:ln w="12700">
            <a:solidFill>
              <a:srgbClr val="3FB950"/>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F6FEB"/>
          </a:solidFill>
          <a:ln w="12700">
            <a:solidFill>
              <a:srgbClr val="1F6FEB"/>
            </a:solidFill>
            <a:prstDash val="solid"/>
          </a:ln>
        </p:spPr>
      </p:sp>
      <p:sp>
        <p:nvSpPr>
          <p:cNvPr id="3" name="Text 1"/>
          <p:cNvSpPr/>
          <p:nvPr/>
        </p:nvSpPr>
        <p:spPr>
          <a:xfrm>
            <a:off x="365760" y="137160"/>
            <a:ext cx="8229600" cy="566928"/>
          </a:xfrm>
          <a:prstGeom prst="rect">
            <a:avLst/>
          </a:prstGeom>
          <a:noFill/>
        </p:spPr>
        <p:txBody>
          <a:bodyPr wrap="square" rtlCol="0" anchor="ctr"/>
          <a:lstStyle/>
          <a:p>
            <a:pPr marL="0" indent="0">
              <a:buNone/>
            </a:pPr>
            <a:r>
              <a:rPr lang="en-US" sz="2800" b="1" dirty="0">
                <a:solidFill>
                  <a:srgbClr val="FFFFFF"/>
                </a:solidFill>
              </a:rPr>
              <a:t>Results &amp; Conclusion</a:t>
            </a:r>
            <a:endParaRPr lang="en-US" sz="2800" dirty="0"/>
          </a:p>
        </p:txBody>
      </p:sp>
      <p:sp>
        <p:nvSpPr>
          <p:cNvPr id="4" name="Shape 2"/>
          <p:cNvSpPr/>
          <p:nvPr/>
        </p:nvSpPr>
        <p:spPr>
          <a:xfrm>
            <a:off x="274320" y="822960"/>
            <a:ext cx="8595360" cy="365760"/>
          </a:xfrm>
          <a:prstGeom prst="rect">
            <a:avLst/>
          </a:prstGeom>
          <a:solidFill>
            <a:srgbClr val="1F6FEB"/>
          </a:solidFill>
          <a:ln w="12700">
            <a:solidFill>
              <a:srgbClr val="1F6FEB"/>
            </a:solidFill>
            <a:prstDash val="solid"/>
          </a:ln>
        </p:spPr>
      </p:sp>
      <p:sp>
        <p:nvSpPr>
          <p:cNvPr id="5" name="Text 3"/>
          <p:cNvSpPr/>
          <p:nvPr/>
        </p:nvSpPr>
        <p:spPr>
          <a:xfrm>
            <a:off x="457200" y="822960"/>
            <a:ext cx="5486400" cy="365760"/>
          </a:xfrm>
          <a:prstGeom prst="rect">
            <a:avLst/>
          </a:prstGeom>
          <a:noFill/>
        </p:spPr>
        <p:txBody>
          <a:bodyPr wrap="square" rtlCol="0" anchor="ctr"/>
          <a:lstStyle/>
          <a:p>
            <a:pPr marL="0" indent="0">
              <a:buNone/>
            </a:pPr>
            <a:r>
              <a:rPr lang="en-US" sz="1300" b="1" dirty="0">
                <a:solidFill>
                  <a:srgbClr val="FFFFFF"/>
                </a:solidFill>
              </a:rPr>
              <a:t>Test / Achievement</a:t>
            </a:r>
            <a:endParaRPr lang="en-US" sz="1300" dirty="0"/>
          </a:p>
        </p:txBody>
      </p:sp>
      <p:sp>
        <p:nvSpPr>
          <p:cNvPr id="6" name="Text 4"/>
          <p:cNvSpPr/>
          <p:nvPr/>
        </p:nvSpPr>
        <p:spPr>
          <a:xfrm>
            <a:off x="5943600" y="822960"/>
            <a:ext cx="1371600" cy="365760"/>
          </a:xfrm>
          <a:prstGeom prst="rect">
            <a:avLst/>
          </a:prstGeom>
          <a:noFill/>
        </p:spPr>
        <p:txBody>
          <a:bodyPr wrap="square" rtlCol="0" anchor="ctr"/>
          <a:lstStyle/>
          <a:p>
            <a:pPr marL="0" indent="0" algn="ctr">
              <a:buNone/>
            </a:pPr>
            <a:r>
              <a:rPr lang="en-US" sz="1300" b="1" dirty="0">
                <a:solidFill>
                  <a:srgbClr val="FFFFFF"/>
                </a:solidFill>
              </a:rPr>
              <a:t>Result</a:t>
            </a:r>
            <a:endParaRPr lang="en-US" sz="1300" dirty="0"/>
          </a:p>
        </p:txBody>
      </p:sp>
      <p:sp>
        <p:nvSpPr>
          <p:cNvPr id="7" name="Text 5"/>
          <p:cNvSpPr/>
          <p:nvPr/>
        </p:nvSpPr>
        <p:spPr>
          <a:xfrm>
            <a:off x="7406640" y="822960"/>
            <a:ext cx="1371600" cy="365760"/>
          </a:xfrm>
          <a:prstGeom prst="rect">
            <a:avLst/>
          </a:prstGeom>
          <a:noFill/>
        </p:spPr>
        <p:txBody>
          <a:bodyPr wrap="square" rtlCol="0" anchor="ctr"/>
          <a:lstStyle/>
          <a:p>
            <a:pPr marL="0" indent="0" algn="ctr">
              <a:buNone/>
            </a:pPr>
            <a:r>
              <a:rPr lang="en-US" sz="1300" b="1" dirty="0">
                <a:solidFill>
                  <a:srgbClr val="FFFFFF"/>
                </a:solidFill>
              </a:rPr>
              <a:t>Status</a:t>
            </a:r>
            <a:endParaRPr lang="en-US" sz="1300" dirty="0"/>
          </a:p>
        </p:txBody>
      </p:sp>
      <p:sp>
        <p:nvSpPr>
          <p:cNvPr id="8" name="Shape 6"/>
          <p:cNvSpPr/>
          <p:nvPr/>
        </p:nvSpPr>
        <p:spPr>
          <a:xfrm>
            <a:off x="274320" y="1234440"/>
            <a:ext cx="8595360" cy="384048"/>
          </a:xfrm>
          <a:prstGeom prst="rect">
            <a:avLst/>
          </a:prstGeom>
          <a:solidFill>
            <a:srgbClr val="0D2137"/>
          </a:solidFill>
          <a:ln w="12700">
            <a:solidFill>
              <a:srgbClr val="1F2937"/>
            </a:solidFill>
            <a:prstDash val="solid"/>
          </a:ln>
        </p:spPr>
      </p:sp>
      <p:sp>
        <p:nvSpPr>
          <p:cNvPr id="9" name="Text 7"/>
          <p:cNvSpPr/>
          <p:nvPr/>
        </p:nvSpPr>
        <p:spPr>
          <a:xfrm>
            <a:off x="457200" y="1261872"/>
            <a:ext cx="5303520" cy="329184"/>
          </a:xfrm>
          <a:prstGeom prst="rect">
            <a:avLst/>
          </a:prstGeom>
          <a:noFill/>
        </p:spPr>
        <p:txBody>
          <a:bodyPr wrap="square" rtlCol="0" anchor="ctr"/>
          <a:lstStyle/>
          <a:p>
            <a:pPr marL="0" indent="0">
              <a:buNone/>
            </a:pPr>
            <a:r>
              <a:rPr lang="en-US" sz="1100" dirty="0">
                <a:solidFill>
                  <a:srgbClr val="E6EDF3"/>
                </a:solidFill>
              </a:rPr>
              <a:t>Network Connected (Kali + Ubuntu)</a:t>
            </a:r>
            <a:endParaRPr lang="en-US" sz="1100" dirty="0"/>
          </a:p>
        </p:txBody>
      </p:sp>
      <p:sp>
        <p:nvSpPr>
          <p:cNvPr id="10" name="Text 8"/>
          <p:cNvSpPr/>
          <p:nvPr/>
        </p:nvSpPr>
        <p:spPr>
          <a:xfrm>
            <a:off x="5852160" y="1261872"/>
            <a:ext cx="1463040" cy="329184"/>
          </a:xfrm>
          <a:prstGeom prst="rect">
            <a:avLst/>
          </a:prstGeom>
          <a:noFill/>
        </p:spPr>
        <p:txBody>
          <a:bodyPr wrap="square" rtlCol="0" anchor="ctr"/>
          <a:lstStyle/>
          <a:p>
            <a:pPr marL="0" indent="0" algn="ctr">
              <a:buNone/>
            </a:pPr>
            <a:r>
              <a:rPr lang="en-US" sz="1000" dirty="0">
                <a:solidFill>
                  <a:srgbClr val="8B949E"/>
                </a:solidFill>
              </a:rPr>
              <a:t>ping 0% loss</a:t>
            </a:r>
            <a:endParaRPr lang="en-US" sz="1000" dirty="0"/>
          </a:p>
        </p:txBody>
      </p:sp>
      <p:sp>
        <p:nvSpPr>
          <p:cNvPr id="12" name="Text 10"/>
          <p:cNvSpPr/>
          <p:nvPr/>
        </p:nvSpPr>
        <p:spPr>
          <a:xfrm>
            <a:off x="7406640" y="1280160"/>
            <a:ext cx="1371600" cy="274320"/>
          </a:xfrm>
          <a:prstGeom prst="rect">
            <a:avLst/>
          </a:prstGeom>
          <a:noFill/>
        </p:spPr>
        <p:txBody>
          <a:bodyPr wrap="square" rtlCol="0" anchor="ctr"/>
          <a:lstStyle/>
          <a:p>
            <a:pPr marL="0" indent="0" algn="ctr">
              <a:buNone/>
            </a:pPr>
            <a:r>
              <a:rPr lang="en-US" sz="1100" b="1" dirty="0">
                <a:solidFill>
                  <a:srgbClr val="3FB950"/>
                </a:solidFill>
              </a:rPr>
              <a:t>PASS ✓</a:t>
            </a:r>
            <a:endParaRPr lang="en-US" sz="1100" dirty="0"/>
          </a:p>
        </p:txBody>
      </p:sp>
      <p:sp>
        <p:nvSpPr>
          <p:cNvPr id="13" name="Shape 11"/>
          <p:cNvSpPr/>
          <p:nvPr/>
        </p:nvSpPr>
        <p:spPr>
          <a:xfrm>
            <a:off x="274320" y="1673352"/>
            <a:ext cx="8595360" cy="384048"/>
          </a:xfrm>
          <a:prstGeom prst="rect">
            <a:avLst/>
          </a:prstGeom>
          <a:solidFill>
            <a:srgbClr val="0A0F1A"/>
          </a:solidFill>
          <a:ln w="12700">
            <a:solidFill>
              <a:srgbClr val="1F2937"/>
            </a:solidFill>
            <a:prstDash val="solid"/>
          </a:ln>
        </p:spPr>
      </p:sp>
      <p:sp>
        <p:nvSpPr>
          <p:cNvPr id="14" name="Text 12"/>
          <p:cNvSpPr/>
          <p:nvPr/>
        </p:nvSpPr>
        <p:spPr>
          <a:xfrm>
            <a:off x="457200" y="1700784"/>
            <a:ext cx="5303520" cy="329184"/>
          </a:xfrm>
          <a:prstGeom prst="rect">
            <a:avLst/>
          </a:prstGeom>
          <a:noFill/>
        </p:spPr>
        <p:txBody>
          <a:bodyPr wrap="square" rtlCol="0" anchor="ctr"/>
          <a:lstStyle/>
          <a:p>
            <a:pPr marL="0" indent="0">
              <a:buNone/>
            </a:pPr>
            <a:r>
              <a:rPr lang="en-US" sz="1100" dirty="0">
                <a:solidFill>
                  <a:srgbClr val="E6EDF3"/>
                </a:solidFill>
              </a:rPr>
              <a:t>Ettercap Host Discovery</a:t>
            </a:r>
            <a:endParaRPr lang="en-US" sz="1100" dirty="0"/>
          </a:p>
        </p:txBody>
      </p:sp>
      <p:sp>
        <p:nvSpPr>
          <p:cNvPr id="15" name="Text 13"/>
          <p:cNvSpPr/>
          <p:nvPr/>
        </p:nvSpPr>
        <p:spPr>
          <a:xfrm>
            <a:off x="5852160" y="1700784"/>
            <a:ext cx="1463040" cy="329184"/>
          </a:xfrm>
          <a:prstGeom prst="rect">
            <a:avLst/>
          </a:prstGeom>
          <a:noFill/>
        </p:spPr>
        <p:txBody>
          <a:bodyPr wrap="square" rtlCol="0" anchor="ctr"/>
          <a:lstStyle/>
          <a:p>
            <a:pPr marL="0" indent="0" algn="ctr">
              <a:buNone/>
            </a:pPr>
            <a:r>
              <a:rPr lang="en-US" sz="1000" dirty="0">
                <a:solidFill>
                  <a:srgbClr val="8B949E"/>
                </a:solidFill>
              </a:rPr>
              <a:t>30+ hosts found</a:t>
            </a:r>
            <a:endParaRPr lang="en-US" sz="1000" dirty="0"/>
          </a:p>
        </p:txBody>
      </p:sp>
      <p:sp>
        <p:nvSpPr>
          <p:cNvPr id="17" name="Text 15"/>
          <p:cNvSpPr/>
          <p:nvPr/>
        </p:nvSpPr>
        <p:spPr>
          <a:xfrm>
            <a:off x="7406640" y="1719072"/>
            <a:ext cx="1371600" cy="274320"/>
          </a:xfrm>
          <a:prstGeom prst="rect">
            <a:avLst/>
          </a:prstGeom>
          <a:noFill/>
        </p:spPr>
        <p:txBody>
          <a:bodyPr wrap="square" rtlCol="0" anchor="ctr"/>
          <a:lstStyle/>
          <a:p>
            <a:pPr marL="0" indent="0" algn="ctr">
              <a:buNone/>
            </a:pPr>
            <a:r>
              <a:rPr lang="en-US" sz="1100" b="1" dirty="0">
                <a:solidFill>
                  <a:srgbClr val="3FB950"/>
                </a:solidFill>
              </a:rPr>
              <a:t>PASS ✓</a:t>
            </a:r>
            <a:endParaRPr lang="en-US" sz="1100" dirty="0"/>
          </a:p>
        </p:txBody>
      </p:sp>
      <p:sp>
        <p:nvSpPr>
          <p:cNvPr id="18" name="Shape 16"/>
          <p:cNvSpPr/>
          <p:nvPr/>
        </p:nvSpPr>
        <p:spPr>
          <a:xfrm>
            <a:off x="274320" y="2112264"/>
            <a:ext cx="8595360" cy="384048"/>
          </a:xfrm>
          <a:prstGeom prst="rect">
            <a:avLst/>
          </a:prstGeom>
          <a:solidFill>
            <a:srgbClr val="0D2137"/>
          </a:solidFill>
          <a:ln w="12700">
            <a:solidFill>
              <a:srgbClr val="1F2937"/>
            </a:solidFill>
            <a:prstDash val="solid"/>
          </a:ln>
        </p:spPr>
      </p:sp>
      <p:sp>
        <p:nvSpPr>
          <p:cNvPr id="19" name="Text 17"/>
          <p:cNvSpPr/>
          <p:nvPr/>
        </p:nvSpPr>
        <p:spPr>
          <a:xfrm>
            <a:off x="457200" y="2139696"/>
            <a:ext cx="5303520" cy="329184"/>
          </a:xfrm>
          <a:prstGeom prst="rect">
            <a:avLst/>
          </a:prstGeom>
          <a:noFill/>
        </p:spPr>
        <p:txBody>
          <a:bodyPr wrap="square" rtlCol="0" anchor="ctr"/>
          <a:lstStyle/>
          <a:p>
            <a:pPr marL="0" indent="0">
              <a:buNone/>
            </a:pPr>
            <a:r>
              <a:rPr lang="en-US" sz="1100" dirty="0">
                <a:solidFill>
                  <a:srgbClr val="E6EDF3"/>
                </a:solidFill>
              </a:rPr>
              <a:t>ARP Poisoning Attack</a:t>
            </a:r>
            <a:endParaRPr lang="en-US" sz="1100" dirty="0"/>
          </a:p>
        </p:txBody>
      </p:sp>
      <p:sp>
        <p:nvSpPr>
          <p:cNvPr id="20" name="Text 18"/>
          <p:cNvSpPr/>
          <p:nvPr/>
        </p:nvSpPr>
        <p:spPr>
          <a:xfrm>
            <a:off x="5852160" y="2139696"/>
            <a:ext cx="1463040" cy="329184"/>
          </a:xfrm>
          <a:prstGeom prst="rect">
            <a:avLst/>
          </a:prstGeom>
          <a:noFill/>
        </p:spPr>
        <p:txBody>
          <a:bodyPr wrap="square" rtlCol="0" anchor="ctr"/>
          <a:lstStyle/>
          <a:p>
            <a:pPr marL="0" indent="0" algn="ctr">
              <a:buNone/>
            </a:pPr>
            <a:r>
              <a:rPr lang="en-US" sz="1000" dirty="0">
                <a:solidFill>
                  <a:srgbClr val="8B949E"/>
                </a:solidFill>
              </a:rPr>
              <a:t>ARP table poisoned!</a:t>
            </a:r>
            <a:endParaRPr lang="en-US" sz="1000" dirty="0"/>
          </a:p>
        </p:txBody>
      </p:sp>
      <p:sp>
        <p:nvSpPr>
          <p:cNvPr id="22" name="Text 20"/>
          <p:cNvSpPr/>
          <p:nvPr/>
        </p:nvSpPr>
        <p:spPr>
          <a:xfrm>
            <a:off x="7406640" y="2157984"/>
            <a:ext cx="1371600" cy="274320"/>
          </a:xfrm>
          <a:prstGeom prst="rect">
            <a:avLst/>
          </a:prstGeom>
          <a:noFill/>
        </p:spPr>
        <p:txBody>
          <a:bodyPr wrap="square" rtlCol="0" anchor="ctr"/>
          <a:lstStyle/>
          <a:p>
            <a:pPr marL="0" indent="0" algn="ctr">
              <a:buNone/>
            </a:pPr>
            <a:r>
              <a:rPr lang="en-US" sz="1100" b="1" dirty="0">
                <a:solidFill>
                  <a:srgbClr val="3FB950"/>
                </a:solidFill>
              </a:rPr>
              <a:t>PASS ✓</a:t>
            </a:r>
            <a:endParaRPr lang="en-US" sz="1100" dirty="0"/>
          </a:p>
        </p:txBody>
      </p:sp>
      <p:sp>
        <p:nvSpPr>
          <p:cNvPr id="23" name="Shape 21"/>
          <p:cNvSpPr/>
          <p:nvPr/>
        </p:nvSpPr>
        <p:spPr>
          <a:xfrm>
            <a:off x="274320" y="2551176"/>
            <a:ext cx="8595360" cy="384048"/>
          </a:xfrm>
          <a:prstGeom prst="rect">
            <a:avLst/>
          </a:prstGeom>
          <a:solidFill>
            <a:srgbClr val="0A0F1A"/>
          </a:solidFill>
          <a:ln w="12700">
            <a:solidFill>
              <a:srgbClr val="1F2937"/>
            </a:solidFill>
            <a:prstDash val="solid"/>
          </a:ln>
        </p:spPr>
      </p:sp>
      <p:sp>
        <p:nvSpPr>
          <p:cNvPr id="24" name="Text 22"/>
          <p:cNvSpPr/>
          <p:nvPr/>
        </p:nvSpPr>
        <p:spPr>
          <a:xfrm>
            <a:off x="457200" y="2578608"/>
            <a:ext cx="5303520" cy="329184"/>
          </a:xfrm>
          <a:prstGeom prst="rect">
            <a:avLst/>
          </a:prstGeom>
          <a:noFill/>
        </p:spPr>
        <p:txBody>
          <a:bodyPr wrap="square" rtlCol="0" anchor="ctr"/>
          <a:lstStyle/>
          <a:p>
            <a:pPr marL="0" indent="0">
              <a:buNone/>
            </a:pPr>
            <a:r>
              <a:rPr lang="en-US" sz="1100" dirty="0">
                <a:solidFill>
                  <a:srgbClr val="E6EDF3"/>
                </a:solidFill>
              </a:rPr>
              <a:t>HTTP Traffic Intercepted</a:t>
            </a:r>
            <a:endParaRPr lang="en-US" sz="1100" dirty="0"/>
          </a:p>
        </p:txBody>
      </p:sp>
      <p:sp>
        <p:nvSpPr>
          <p:cNvPr id="25" name="Text 23"/>
          <p:cNvSpPr/>
          <p:nvPr/>
        </p:nvSpPr>
        <p:spPr>
          <a:xfrm>
            <a:off x="5852160" y="2578608"/>
            <a:ext cx="1463040" cy="329184"/>
          </a:xfrm>
          <a:prstGeom prst="rect">
            <a:avLst/>
          </a:prstGeom>
          <a:noFill/>
        </p:spPr>
        <p:txBody>
          <a:bodyPr wrap="square" rtlCol="0" anchor="ctr"/>
          <a:lstStyle/>
          <a:p>
            <a:pPr marL="0" indent="0" algn="ctr">
              <a:buNone/>
            </a:pPr>
            <a:r>
              <a:rPr lang="en-US" sz="1000" dirty="0">
                <a:solidFill>
                  <a:srgbClr val="8B949E"/>
                </a:solidFill>
              </a:rPr>
              <a:t>Packets captured</a:t>
            </a:r>
            <a:endParaRPr lang="en-US" sz="1000" dirty="0"/>
          </a:p>
        </p:txBody>
      </p:sp>
      <p:sp>
        <p:nvSpPr>
          <p:cNvPr id="27" name="Text 25"/>
          <p:cNvSpPr/>
          <p:nvPr/>
        </p:nvSpPr>
        <p:spPr>
          <a:xfrm>
            <a:off x="7406640" y="2596896"/>
            <a:ext cx="1371600" cy="274320"/>
          </a:xfrm>
          <a:prstGeom prst="rect">
            <a:avLst/>
          </a:prstGeom>
          <a:noFill/>
        </p:spPr>
        <p:txBody>
          <a:bodyPr wrap="square" rtlCol="0" anchor="ctr"/>
          <a:lstStyle/>
          <a:p>
            <a:pPr marL="0" indent="0" algn="ctr">
              <a:buNone/>
            </a:pPr>
            <a:r>
              <a:rPr lang="en-US" sz="1100" b="1" dirty="0">
                <a:solidFill>
                  <a:srgbClr val="3FB950"/>
                </a:solidFill>
              </a:rPr>
              <a:t>PASS ✓</a:t>
            </a:r>
            <a:endParaRPr lang="en-US" sz="1100" dirty="0"/>
          </a:p>
        </p:txBody>
      </p:sp>
      <p:sp>
        <p:nvSpPr>
          <p:cNvPr id="28" name="Shape 26"/>
          <p:cNvSpPr/>
          <p:nvPr/>
        </p:nvSpPr>
        <p:spPr>
          <a:xfrm>
            <a:off x="274320" y="2990088"/>
            <a:ext cx="8595360" cy="384048"/>
          </a:xfrm>
          <a:prstGeom prst="rect">
            <a:avLst/>
          </a:prstGeom>
          <a:solidFill>
            <a:srgbClr val="0D2137"/>
          </a:solidFill>
          <a:ln w="12700">
            <a:solidFill>
              <a:srgbClr val="1F2937"/>
            </a:solidFill>
            <a:prstDash val="solid"/>
          </a:ln>
        </p:spPr>
      </p:sp>
      <p:sp>
        <p:nvSpPr>
          <p:cNvPr id="29" name="Text 27"/>
          <p:cNvSpPr/>
          <p:nvPr/>
        </p:nvSpPr>
        <p:spPr>
          <a:xfrm>
            <a:off x="457200" y="3017520"/>
            <a:ext cx="5303520" cy="329184"/>
          </a:xfrm>
          <a:prstGeom prst="rect">
            <a:avLst/>
          </a:prstGeom>
          <a:noFill/>
        </p:spPr>
        <p:txBody>
          <a:bodyPr wrap="square" rtlCol="0" anchor="ctr"/>
          <a:lstStyle/>
          <a:p>
            <a:pPr marL="0" indent="0">
              <a:buNone/>
            </a:pPr>
            <a:r>
              <a:rPr lang="en-US" sz="1100" dirty="0">
                <a:solidFill>
                  <a:srgbClr val="E6EDF3"/>
                </a:solidFill>
              </a:rPr>
              <a:t>Wireshark ARP Filter</a:t>
            </a:r>
            <a:endParaRPr lang="en-US" sz="1100" dirty="0"/>
          </a:p>
        </p:txBody>
      </p:sp>
      <p:sp>
        <p:nvSpPr>
          <p:cNvPr id="30" name="Text 28"/>
          <p:cNvSpPr/>
          <p:nvPr/>
        </p:nvSpPr>
        <p:spPr>
          <a:xfrm>
            <a:off x="5852160" y="3017520"/>
            <a:ext cx="1463040" cy="329184"/>
          </a:xfrm>
          <a:prstGeom prst="rect">
            <a:avLst/>
          </a:prstGeom>
          <a:noFill/>
        </p:spPr>
        <p:txBody>
          <a:bodyPr wrap="square" rtlCol="0" anchor="ctr"/>
          <a:lstStyle/>
          <a:p>
            <a:pPr marL="0" indent="0" algn="ctr">
              <a:buNone/>
            </a:pPr>
            <a:r>
              <a:rPr lang="en-US" sz="1000" dirty="0">
                <a:solidFill>
                  <a:srgbClr val="8B949E"/>
                </a:solidFill>
              </a:rPr>
              <a:t>Fake ARP visible</a:t>
            </a:r>
            <a:endParaRPr lang="en-US" sz="1000" dirty="0"/>
          </a:p>
        </p:txBody>
      </p:sp>
      <p:sp>
        <p:nvSpPr>
          <p:cNvPr id="32" name="Text 30"/>
          <p:cNvSpPr/>
          <p:nvPr/>
        </p:nvSpPr>
        <p:spPr>
          <a:xfrm>
            <a:off x="7406640" y="3035808"/>
            <a:ext cx="1371600" cy="274320"/>
          </a:xfrm>
          <a:prstGeom prst="rect">
            <a:avLst/>
          </a:prstGeom>
          <a:noFill/>
        </p:spPr>
        <p:txBody>
          <a:bodyPr wrap="square" rtlCol="0" anchor="ctr"/>
          <a:lstStyle/>
          <a:p>
            <a:pPr marL="0" indent="0" algn="ctr">
              <a:buNone/>
            </a:pPr>
            <a:r>
              <a:rPr lang="en-US" sz="1100" b="1" dirty="0">
                <a:solidFill>
                  <a:srgbClr val="3FB950"/>
                </a:solidFill>
              </a:rPr>
              <a:t>PASS ✓</a:t>
            </a:r>
            <a:endParaRPr lang="en-US" sz="1100" dirty="0"/>
          </a:p>
        </p:txBody>
      </p:sp>
      <p:sp>
        <p:nvSpPr>
          <p:cNvPr id="33" name="Shape 31"/>
          <p:cNvSpPr/>
          <p:nvPr/>
        </p:nvSpPr>
        <p:spPr>
          <a:xfrm>
            <a:off x="274320" y="3429000"/>
            <a:ext cx="8595360" cy="384048"/>
          </a:xfrm>
          <a:prstGeom prst="rect">
            <a:avLst/>
          </a:prstGeom>
          <a:solidFill>
            <a:srgbClr val="0A0F1A"/>
          </a:solidFill>
          <a:ln w="12700">
            <a:solidFill>
              <a:srgbClr val="1F2937"/>
            </a:solidFill>
            <a:prstDash val="solid"/>
          </a:ln>
        </p:spPr>
      </p:sp>
      <p:sp>
        <p:nvSpPr>
          <p:cNvPr id="34" name="Text 32"/>
          <p:cNvSpPr/>
          <p:nvPr/>
        </p:nvSpPr>
        <p:spPr>
          <a:xfrm>
            <a:off x="457200" y="3456432"/>
            <a:ext cx="5303520" cy="329184"/>
          </a:xfrm>
          <a:prstGeom prst="rect">
            <a:avLst/>
          </a:prstGeom>
          <a:noFill/>
        </p:spPr>
        <p:txBody>
          <a:bodyPr wrap="square" rtlCol="0" anchor="ctr"/>
          <a:lstStyle/>
          <a:p>
            <a:pPr marL="0" indent="0">
              <a:buNone/>
            </a:pPr>
            <a:r>
              <a:rPr lang="en-US" sz="1100" dirty="0">
                <a:solidFill>
                  <a:srgbClr val="E6EDF3"/>
                </a:solidFill>
              </a:rPr>
              <a:t>Python Scripts Written</a:t>
            </a:r>
            <a:endParaRPr lang="en-US" sz="1100" dirty="0"/>
          </a:p>
        </p:txBody>
      </p:sp>
      <p:sp>
        <p:nvSpPr>
          <p:cNvPr id="35" name="Text 33"/>
          <p:cNvSpPr/>
          <p:nvPr/>
        </p:nvSpPr>
        <p:spPr>
          <a:xfrm>
            <a:off x="5852160" y="3456432"/>
            <a:ext cx="1463040" cy="329184"/>
          </a:xfrm>
          <a:prstGeom prst="rect">
            <a:avLst/>
          </a:prstGeom>
          <a:noFill/>
        </p:spPr>
        <p:txBody>
          <a:bodyPr wrap="square" rtlCol="0" anchor="ctr"/>
          <a:lstStyle/>
          <a:p>
            <a:pPr marL="0" indent="0" algn="ctr">
              <a:buNone/>
            </a:pPr>
            <a:r>
              <a:rPr lang="en-US" sz="1000" dirty="0">
                <a:solidFill>
                  <a:srgbClr val="8B949E"/>
                </a:solidFill>
              </a:rPr>
              <a:t>3 scripts ready</a:t>
            </a:r>
            <a:endParaRPr lang="en-US" sz="1000" dirty="0"/>
          </a:p>
        </p:txBody>
      </p:sp>
      <p:sp>
        <p:nvSpPr>
          <p:cNvPr id="37" name="Text 35"/>
          <p:cNvSpPr/>
          <p:nvPr/>
        </p:nvSpPr>
        <p:spPr>
          <a:xfrm>
            <a:off x="7406640" y="3474720"/>
            <a:ext cx="1371600" cy="274320"/>
          </a:xfrm>
          <a:prstGeom prst="rect">
            <a:avLst/>
          </a:prstGeom>
          <a:noFill/>
        </p:spPr>
        <p:txBody>
          <a:bodyPr wrap="square" rtlCol="0" anchor="ctr"/>
          <a:lstStyle/>
          <a:p>
            <a:pPr marL="0" indent="0" algn="ctr">
              <a:buNone/>
            </a:pPr>
            <a:r>
              <a:rPr lang="en-US" sz="1100" b="1" dirty="0">
                <a:solidFill>
                  <a:srgbClr val="3FB950"/>
                </a:solidFill>
              </a:rPr>
              <a:t>PASS ✓</a:t>
            </a:r>
            <a:endParaRPr lang="en-US" sz="1100" dirty="0"/>
          </a:p>
        </p:txBody>
      </p:sp>
      <p:sp>
        <p:nvSpPr>
          <p:cNvPr id="38" name="Shape 36"/>
          <p:cNvSpPr/>
          <p:nvPr/>
        </p:nvSpPr>
        <p:spPr>
          <a:xfrm>
            <a:off x="274320" y="3977640"/>
            <a:ext cx="8595360" cy="1005840"/>
          </a:xfrm>
          <a:prstGeom prst="rect">
            <a:avLst/>
          </a:prstGeom>
          <a:solidFill>
            <a:srgbClr val="0D2137"/>
          </a:solidFill>
          <a:ln w="12700">
            <a:solidFill>
              <a:srgbClr val="39D1F5"/>
            </a:solidFill>
            <a:prstDash val="solid"/>
          </a:ln>
        </p:spPr>
      </p:sp>
      <p:sp>
        <p:nvSpPr>
          <p:cNvPr id="39" name="Text 37"/>
          <p:cNvSpPr/>
          <p:nvPr/>
        </p:nvSpPr>
        <p:spPr>
          <a:xfrm>
            <a:off x="457200" y="4023360"/>
            <a:ext cx="1828800" cy="292608"/>
          </a:xfrm>
          <a:prstGeom prst="rect">
            <a:avLst/>
          </a:prstGeom>
          <a:noFill/>
        </p:spPr>
        <p:txBody>
          <a:bodyPr wrap="square" rtlCol="0" anchor="ctr"/>
          <a:lstStyle/>
          <a:p>
            <a:pPr marL="0" indent="0">
              <a:buNone/>
            </a:pPr>
            <a:r>
              <a:rPr lang="en-US" sz="1300" b="1" dirty="0">
                <a:solidFill>
                  <a:srgbClr val="39D1F5"/>
                </a:solidFill>
              </a:rPr>
              <a:t>Conclusion</a:t>
            </a:r>
            <a:endParaRPr lang="en-US" sz="1300" dirty="0"/>
          </a:p>
        </p:txBody>
      </p:sp>
      <p:sp>
        <p:nvSpPr>
          <p:cNvPr id="40" name="Text 38"/>
          <p:cNvSpPr/>
          <p:nvPr/>
        </p:nvSpPr>
        <p:spPr>
          <a:xfrm>
            <a:off x="457200" y="4343400"/>
            <a:ext cx="8229600" cy="594360"/>
          </a:xfrm>
          <a:prstGeom prst="rect">
            <a:avLst/>
          </a:prstGeom>
          <a:noFill/>
        </p:spPr>
        <p:txBody>
          <a:bodyPr wrap="square" rtlCol="0" anchor="ctr"/>
          <a:lstStyle/>
          <a:p>
            <a:pPr marL="0" indent="0">
              <a:buNone/>
            </a:pPr>
            <a:r>
              <a:rPr lang="en-US" sz="1050" dirty="0">
                <a:solidFill>
                  <a:srgbClr val="E6EDF3"/>
                </a:solidFill>
              </a:rPr>
              <a:t>This project successfully demonstrated a complete MITM attack lifecycle using Kali Linux and Ubuntu. ARP Spoofing via Ettercap poisoned the victim's ARP cache, enabling full traffic interception via Wireshark. Python scripts were developed for both attack automation and defense detection. Project covers Attack, Detect, and Defend — complete security cycle!</a:t>
            </a:r>
            <a:endParaRPr lang="en-US" sz="1050" dirty="0"/>
          </a:p>
        </p:txBody>
      </p:sp>
      <p:sp>
        <p:nvSpPr>
          <p:cNvPr id="41" name="Shape 39"/>
          <p:cNvSpPr/>
          <p:nvPr/>
        </p:nvSpPr>
        <p:spPr>
          <a:xfrm>
            <a:off x="0" y="5056632"/>
            <a:ext cx="9144000" cy="73152"/>
          </a:xfrm>
          <a:prstGeom prst="rect">
            <a:avLst/>
          </a:prstGeom>
          <a:solidFill>
            <a:srgbClr val="1F6FEB"/>
          </a:solidFill>
          <a:ln w="12700">
            <a:solidFill>
              <a:srgbClr val="1F6FE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2581</Words>
  <Application>WPS Presentation</Application>
  <PresentationFormat>On-screen Show (16:9)</PresentationFormat>
  <Paragraphs>233</Paragraphs>
  <Slides>8</Slides>
  <Notes>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vt:i4>
      </vt:variant>
    </vt:vector>
  </HeadingPairs>
  <TitlesOfParts>
    <vt:vector size="23" baseType="lpstr">
      <vt:lpstr>Arial</vt:lpstr>
      <vt:lpstr>SimSun</vt:lpstr>
      <vt:lpstr>Wingdings</vt:lpstr>
      <vt:lpstr>Arial Black</vt:lpstr>
      <vt:lpstr>Arial Black</vt:lpstr>
      <vt:lpstr>Arial Black</vt:lpstr>
      <vt:lpstr>Consolas</vt:lpstr>
      <vt:lpstr>Consolas</vt:lpstr>
      <vt:lpstr>Consolas</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MITM Attack &amp; Defense</dc:title>
  <dc:creator>PptxGenJS</dc:creator>
  <dc:subject>PptxGenJS Presentation</dc:subject>
  <cp:lastModifiedBy>Hira Islam</cp:lastModifiedBy>
  <cp:revision>3</cp:revision>
  <dcterms:created xsi:type="dcterms:W3CDTF">2026-04-22T00:07:00Z</dcterms:created>
  <dcterms:modified xsi:type="dcterms:W3CDTF">2026-09-17T09:14:39Z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E11E2F1B58F344B582641C690B670958_12</vt:lpwstr>
  </property>
</Properties>
</file>